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37160" cy="16459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685800"/>
            <a:ext cx="7315200" cy="365760"/>
          </a:xfrm>
          <a:prstGeom prst="rect">
            <a:avLst/>
          </a:prstGeom>
          <a:noFill/>
        </p:spPr>
        <p:txBody>
          <a:bodyPr wrap="none">
            <a:spAutoFit/>
          </a:bodyPr>
          <a:lstStyle/>
          <a:p>
            <a:pPr>
              <a:defRPr sz="1200" b="1">
                <a:solidFill>
                  <a:srgbClr val="0EA5E9"/>
                </a:solidFill>
              </a:defRPr>
            </a:pPr>
            <a:r>
              <a:t>NETCAD YAZILIM A.Ş. | TEKNOLOJİ ÇÖZÜMLERİ DEPARTMANI — 5. HAFTA</a:t>
            </a:r>
          </a:p>
        </p:txBody>
      </p:sp>
      <p:sp>
        <p:nvSpPr>
          <p:cNvPr id="5" name="TextBox 4"/>
          <p:cNvSpPr txBox="1"/>
          <p:nvPr/>
        </p:nvSpPr>
        <p:spPr>
          <a:xfrm>
            <a:off x="1188720" y="1051560"/>
            <a:ext cx="9601200" cy="1188720"/>
          </a:xfrm>
          <a:prstGeom prst="rect">
            <a:avLst/>
          </a:prstGeom>
          <a:noFill/>
        </p:spPr>
        <p:txBody>
          <a:bodyPr wrap="square">
            <a:spAutoFit/>
          </a:bodyPr>
          <a:lstStyle/>
          <a:p>
            <a:pPr>
              <a:defRPr sz="3200" b="1">
                <a:solidFill>
                  <a:srgbClr val="F8FAFC"/>
                </a:solidFill>
              </a:defRPr>
            </a:pPr>
            <a:r>
              <a:t>DDIA İleri Seviye: Şema Evrimi, Sharding &amp; İzolasyon</a:t>
            </a:r>
          </a:p>
        </p:txBody>
      </p:sp>
      <p:sp>
        <p:nvSpPr>
          <p:cNvPr id="6" name="TextBox 5"/>
          <p:cNvSpPr txBox="1"/>
          <p:nvPr/>
        </p:nvSpPr>
        <p:spPr>
          <a:xfrm>
            <a:off x="1188720" y="2286000"/>
            <a:ext cx="9601200" cy="548640"/>
          </a:xfrm>
          <a:prstGeom prst="rect">
            <a:avLst/>
          </a:prstGeom>
          <a:noFill/>
        </p:spPr>
        <p:txBody>
          <a:bodyPr wrap="none">
            <a:spAutoFit/>
          </a:bodyPr>
          <a:lstStyle/>
          <a:p>
            <a:pPr>
              <a:defRPr sz="1600">
                <a:solidFill>
                  <a:srgbClr val="64748B"/>
                </a:solidFill>
              </a:defRPr>
            </a:pPr>
            <a:r>
              <a:t>🗓️ 13 – 17 Temmuz 2026   |   Serileştirme, Veri Parçalama, Zayıf İzolasyon Seviyeleri &amp; Dağıtık Sistemler</a:t>
            </a:r>
          </a:p>
        </p:txBody>
      </p:sp>
      <p:sp>
        <p:nvSpPr>
          <p:cNvPr id="7" name="Rounded Rectangle 6"/>
          <p:cNvSpPr/>
          <p:nvPr/>
        </p:nvSpPr>
        <p:spPr>
          <a:xfrm>
            <a:off x="91440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383280"/>
            <a:ext cx="2788920" cy="548640"/>
          </a:xfrm>
          <a:prstGeom prst="rect">
            <a:avLst/>
          </a:prstGeom>
          <a:noFill/>
        </p:spPr>
        <p:txBody>
          <a:bodyPr wrap="square">
            <a:spAutoFit/>
          </a:bodyPr>
          <a:lstStyle/>
          <a:p>
            <a:pPr>
              <a:defRPr sz="1500" b="1">
                <a:solidFill>
                  <a:srgbClr val="0EA5E9"/>
                </a:solidFill>
              </a:defRPr>
            </a:pPr>
            <a:r>
              <a:t>Kodlama &amp; Şema Evrimi (Bölüm 4)</a:t>
            </a:r>
          </a:p>
        </p:txBody>
      </p:sp>
      <p:sp>
        <p:nvSpPr>
          <p:cNvPr id="9" name="TextBox 8"/>
          <p:cNvSpPr txBox="1"/>
          <p:nvPr/>
        </p:nvSpPr>
        <p:spPr>
          <a:xfrm>
            <a:off x="1097280" y="3977640"/>
            <a:ext cx="2788920" cy="2011680"/>
          </a:xfrm>
          <a:prstGeom prst="rect">
            <a:avLst/>
          </a:prstGeom>
          <a:noFill/>
        </p:spPr>
        <p:txBody>
          <a:bodyPr wrap="square">
            <a:spAutoFit/>
          </a:bodyPr>
          <a:lstStyle/>
          <a:p>
            <a:pPr>
              <a:spcAft>
                <a:spcPts val="600"/>
              </a:spcAft>
              <a:defRPr sz="1200">
                <a:solidFill>
                  <a:srgbClr val="E2E8F0"/>
                </a:solidFill>
              </a:defRPr>
            </a:pPr>
            <a:r>
              <a:t>• JSON, Protobuf, Avro karşılaştırması</a:t>
            </a:r>
          </a:p>
          <a:p>
            <a:pPr>
              <a:spcAft>
                <a:spcPts val="600"/>
              </a:spcAft>
              <a:defRPr sz="1200">
                <a:solidFill>
                  <a:srgbClr val="E2E8F0"/>
                </a:solidFill>
              </a:defRPr>
            </a:pPr>
            <a:r>
              <a:t>• Geriye ve ileriye dönük uyumluluk</a:t>
            </a:r>
          </a:p>
          <a:p>
            <a:pPr>
              <a:spcAft>
                <a:spcPts val="600"/>
              </a:spcAft>
              <a:defRPr sz="1200">
                <a:solidFill>
                  <a:srgbClr val="E2E8F0"/>
                </a:solidFill>
              </a:defRPr>
            </a:pPr>
            <a:r>
              <a:t>• İkili formatlarda alan etiketleri</a:t>
            </a:r>
          </a:p>
          <a:p>
            <a:pPr>
              <a:spcAft>
                <a:spcPts val="600"/>
              </a:spcAft>
              <a:defRPr sz="1200">
                <a:solidFill>
                  <a:srgbClr val="E2E8F0"/>
                </a:solidFill>
              </a:defRPr>
            </a:pPr>
            <a:r>
              <a:t>• 'Veri koddan uzun yaşar' ilkesi</a:t>
            </a:r>
          </a:p>
        </p:txBody>
      </p:sp>
      <p:sp>
        <p:nvSpPr>
          <p:cNvPr id="10" name="Rounded Rectangle 9"/>
          <p:cNvSpPr/>
          <p:nvPr/>
        </p:nvSpPr>
        <p:spPr>
          <a:xfrm>
            <a:off x="438912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383280"/>
            <a:ext cx="2788920" cy="548640"/>
          </a:xfrm>
          <a:prstGeom prst="rect">
            <a:avLst/>
          </a:prstGeom>
          <a:noFill/>
        </p:spPr>
        <p:txBody>
          <a:bodyPr wrap="square">
            <a:spAutoFit/>
          </a:bodyPr>
          <a:lstStyle/>
          <a:p>
            <a:pPr>
              <a:defRPr sz="1500" b="1">
                <a:solidFill>
                  <a:srgbClr val="0EA5E9"/>
                </a:solidFill>
              </a:defRPr>
            </a:pPr>
            <a:r>
              <a:t>Veri Parçalama (Sharding, Bölüm 6)</a:t>
            </a:r>
          </a:p>
        </p:txBody>
      </p:sp>
      <p:sp>
        <p:nvSpPr>
          <p:cNvPr id="12" name="TextBox 11"/>
          <p:cNvSpPr txBox="1"/>
          <p:nvPr/>
        </p:nvSpPr>
        <p:spPr>
          <a:xfrm>
            <a:off x="4572000" y="3977640"/>
            <a:ext cx="2788920" cy="2011680"/>
          </a:xfrm>
          <a:prstGeom prst="rect">
            <a:avLst/>
          </a:prstGeom>
          <a:noFill/>
        </p:spPr>
        <p:txBody>
          <a:bodyPr wrap="square">
            <a:spAutoFit/>
          </a:bodyPr>
          <a:lstStyle/>
          <a:p>
            <a:pPr>
              <a:spcAft>
                <a:spcPts val="600"/>
              </a:spcAft>
              <a:defRPr sz="1200">
                <a:solidFill>
                  <a:srgbClr val="E2E8F0"/>
                </a:solidFill>
              </a:defRPr>
            </a:pPr>
            <a:r>
              <a:t>• Anahtar aralığı vs Hash parçalama</a:t>
            </a:r>
          </a:p>
          <a:p>
            <a:pPr>
              <a:spcAft>
                <a:spcPts val="600"/>
              </a:spcAft>
              <a:defRPr sz="1200">
                <a:solidFill>
                  <a:srgbClr val="E2E8F0"/>
                </a:solidFill>
              </a:defRPr>
            </a:pPr>
            <a:r>
              <a:t>• Mod-N'nin yeniden dengelemede çöküşü</a:t>
            </a:r>
          </a:p>
          <a:p>
            <a:pPr>
              <a:spcAft>
                <a:spcPts val="600"/>
              </a:spcAft>
              <a:defRPr sz="1200">
                <a:solidFill>
                  <a:srgbClr val="E2E8F0"/>
                </a:solidFill>
              </a:defRPr>
            </a:pPr>
            <a:r>
              <a:t>• Tutarlı hashing (Consistent Hashing)</a:t>
            </a:r>
          </a:p>
          <a:p>
            <a:pPr>
              <a:spcAft>
                <a:spcPts val="600"/>
              </a:spcAft>
              <a:defRPr sz="1200">
                <a:solidFill>
                  <a:srgbClr val="E2E8F0"/>
                </a:solidFill>
              </a:defRPr>
            </a:pPr>
            <a:r>
              <a:t>• Sıcak nokta (hotspot) azaltma stratejileri</a:t>
            </a:r>
          </a:p>
        </p:txBody>
      </p:sp>
      <p:sp>
        <p:nvSpPr>
          <p:cNvPr id="13" name="Rounded Rectangle 12"/>
          <p:cNvSpPr/>
          <p:nvPr/>
        </p:nvSpPr>
        <p:spPr>
          <a:xfrm>
            <a:off x="786384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3383280"/>
            <a:ext cx="2788920" cy="548640"/>
          </a:xfrm>
          <a:prstGeom prst="rect">
            <a:avLst/>
          </a:prstGeom>
          <a:noFill/>
        </p:spPr>
        <p:txBody>
          <a:bodyPr wrap="square">
            <a:spAutoFit/>
          </a:bodyPr>
          <a:lstStyle/>
          <a:p>
            <a:pPr>
              <a:defRPr sz="1500" b="1">
                <a:solidFill>
                  <a:srgbClr val="0EA5E9"/>
                </a:solidFill>
              </a:defRPr>
            </a:pPr>
            <a:r>
              <a:t>İzolasyon &amp; Dağıtık Ağlar (Bölüm 7-9)</a:t>
            </a:r>
          </a:p>
        </p:txBody>
      </p:sp>
      <p:sp>
        <p:nvSpPr>
          <p:cNvPr id="15" name="TextBox 14"/>
          <p:cNvSpPr txBox="1"/>
          <p:nvPr/>
        </p:nvSpPr>
        <p:spPr>
          <a:xfrm>
            <a:off x="8046720" y="3977640"/>
            <a:ext cx="2788920" cy="2011680"/>
          </a:xfrm>
          <a:prstGeom prst="rect">
            <a:avLst/>
          </a:prstGeom>
          <a:noFill/>
        </p:spPr>
        <p:txBody>
          <a:bodyPr wrap="square">
            <a:spAutoFit/>
          </a:bodyPr>
          <a:lstStyle/>
          <a:p>
            <a:pPr>
              <a:spcAft>
                <a:spcPts val="600"/>
              </a:spcAft>
              <a:defRPr sz="1200">
                <a:solidFill>
                  <a:srgbClr val="E2E8F0"/>
                </a:solidFill>
              </a:defRPr>
            </a:pPr>
            <a:r>
              <a:t>• Read committed, Snapshot, MVCC</a:t>
            </a:r>
          </a:p>
          <a:p>
            <a:pPr>
              <a:spcAft>
                <a:spcPts val="600"/>
              </a:spcAft>
              <a:defRPr sz="1200">
                <a:solidFill>
                  <a:srgbClr val="E2E8F0"/>
                </a:solidFill>
              </a:defRPr>
            </a:pPr>
            <a:r>
              <a:t>• Serileştirilebilirliğin 3 yolu (2PL, SSI)</a:t>
            </a:r>
          </a:p>
          <a:p>
            <a:pPr>
              <a:spcAft>
                <a:spcPts val="600"/>
              </a:spcAft>
              <a:defRPr sz="1200">
                <a:solidFill>
                  <a:srgbClr val="E2E8F0"/>
                </a:solidFill>
              </a:defRPr>
            </a:pPr>
            <a:r>
              <a:t>• Güvenilmez ağlar &amp; zaman aşımı belirsizliği</a:t>
            </a:r>
          </a:p>
          <a:p>
            <a:pPr>
              <a:spcAft>
                <a:spcPts val="600"/>
              </a:spcAft>
              <a:defRPr sz="1200">
                <a:solidFill>
                  <a:srgbClr val="E2E8F0"/>
                </a:solidFill>
              </a:defRPr>
            </a:pPr>
            <a:r>
              <a:t>• Saat kayması, Fencing token &amp; CAP analizi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5. HAFTA (13-17 TEMMUZ 2026)  •  İŞ GÜNÜ DÖKÜMÜ</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Haftalık Gün Gün Kazanımlar ve Uygulama Detayları</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19072"/>
            <a:ext cx="1999427" cy="548640"/>
          </a:xfrm>
          <a:prstGeom prst="rect">
            <a:avLst/>
          </a:prstGeom>
          <a:noFill/>
        </p:spPr>
        <p:txBody>
          <a:bodyPr wrap="none">
            <a:spAutoFit/>
          </a:bodyPr>
          <a:lstStyle/>
          <a:p>
            <a:pPr algn="ctr">
              <a:defRPr sz="1200" b="1">
                <a:solidFill>
                  <a:srgbClr val="F8FAFC"/>
                </a:solidFill>
              </a:defRPr>
            </a:pPr>
            <a:r>
              <a:t>21. Gün (13/07)</a:t>
            </a:r>
          </a:p>
        </p:txBody>
      </p:sp>
      <p:sp>
        <p:nvSpPr>
          <p:cNvPr id="9" name="TextBox 8"/>
          <p:cNvSpPr txBox="1"/>
          <p:nvPr/>
        </p:nvSpPr>
        <p:spPr>
          <a:xfrm>
            <a:off x="841248" y="2331720"/>
            <a:ext cx="1779971" cy="640080"/>
          </a:xfrm>
          <a:prstGeom prst="rect">
            <a:avLst/>
          </a:prstGeom>
          <a:noFill/>
        </p:spPr>
        <p:txBody>
          <a:bodyPr wrap="square">
            <a:spAutoFit/>
          </a:bodyPr>
          <a:lstStyle/>
          <a:p>
            <a:pPr>
              <a:defRPr sz="1100" b="1">
                <a:solidFill>
                  <a:srgbClr val="0F172A"/>
                </a:solidFill>
              </a:defRPr>
            </a:pPr>
            <a:r>
              <a:t>Kodlama, Serileştirme &amp; Şema Evrimi</a:t>
            </a:r>
          </a:p>
        </p:txBody>
      </p:sp>
      <p:sp>
        <p:nvSpPr>
          <p:cNvPr id="10" name="TextBox 9"/>
          <p:cNvSpPr txBox="1"/>
          <p:nvPr/>
        </p:nvSpPr>
        <p:spPr>
          <a:xfrm>
            <a:off x="822960" y="3017520"/>
            <a:ext cx="1816547" cy="3200400"/>
          </a:xfrm>
          <a:prstGeom prst="rect">
            <a:avLst/>
          </a:prstGeom>
          <a:noFill/>
        </p:spPr>
        <p:txBody>
          <a:bodyPr wrap="square">
            <a:spAutoFit/>
          </a:bodyPr>
          <a:lstStyle/>
          <a:p>
            <a:pPr>
              <a:spcAft>
                <a:spcPts val="400"/>
              </a:spcAft>
              <a:defRPr sz="1000">
                <a:solidFill>
                  <a:srgbClr val="64748B"/>
                </a:solidFill>
              </a:defRPr>
            </a:pPr>
            <a:r>
              <a:t>• DDIA Bölüm 4: Veri kodlama biçimlerinin karşılaştırmalı analizi.</a:t>
            </a:r>
          </a:p>
          <a:p>
            <a:pPr>
              <a:spcAft>
                <a:spcPts val="400"/>
              </a:spcAft>
              <a:defRPr sz="1000">
                <a:solidFill>
                  <a:srgbClr val="64748B"/>
                </a:solidFill>
              </a:defRPr>
            </a:pPr>
            <a:r>
              <a:t>• İleriye ve geriye dönük uyumluluğun kademeli sürüm geçişlerindeki rolü.</a:t>
            </a:r>
          </a:p>
          <a:p>
            <a:pPr>
              <a:spcAft>
                <a:spcPts val="400"/>
              </a:spcAft>
              <a:defRPr sz="1000">
                <a:solidFill>
                  <a:srgbClr val="64748B"/>
                </a:solidFill>
              </a:defRPr>
            </a:pPr>
            <a:r>
              <a:t>• Protocol Buffers'ın sayısal alan etiketleri ve Avro yazar/okuyucu şeması.</a:t>
            </a:r>
          </a:p>
          <a:p>
            <a:pPr>
              <a:spcAft>
                <a:spcPts val="400"/>
              </a:spcAft>
              <a:defRPr sz="1000">
                <a:solidFill>
                  <a:srgbClr val="64748B"/>
                </a:solidFill>
              </a:defRPr>
            </a:pPr>
            <a:r>
              <a:t>• 'Veri koddan uzun yaşar' ilkesinin proje migration altyapısıyla ilişkisi.</a:t>
            </a:r>
          </a:p>
        </p:txBody>
      </p:sp>
      <p:sp>
        <p:nvSpPr>
          <p:cNvPr id="11" name="Rounded Rectangle 10"/>
          <p:cNvSpPr/>
          <p:nvPr/>
        </p:nvSpPr>
        <p:spPr>
          <a:xfrm>
            <a:off x="2913827"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13827" y="1645920"/>
            <a:ext cx="1999427" cy="6400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13827" y="1719072"/>
            <a:ext cx="1999427" cy="548640"/>
          </a:xfrm>
          <a:prstGeom prst="rect">
            <a:avLst/>
          </a:prstGeom>
          <a:noFill/>
        </p:spPr>
        <p:txBody>
          <a:bodyPr wrap="none">
            <a:spAutoFit/>
          </a:bodyPr>
          <a:lstStyle/>
          <a:p>
            <a:pPr algn="ctr">
              <a:defRPr sz="1200" b="1">
                <a:solidFill>
                  <a:srgbClr val="F8FAFC"/>
                </a:solidFill>
              </a:defRPr>
            </a:pPr>
            <a:r>
              <a:t>22. Gün (14/07)</a:t>
            </a:r>
          </a:p>
        </p:txBody>
      </p:sp>
      <p:sp>
        <p:nvSpPr>
          <p:cNvPr id="14" name="TextBox 13"/>
          <p:cNvSpPr txBox="1"/>
          <p:nvPr/>
        </p:nvSpPr>
        <p:spPr>
          <a:xfrm>
            <a:off x="3023555" y="2331720"/>
            <a:ext cx="1779971" cy="640080"/>
          </a:xfrm>
          <a:prstGeom prst="rect">
            <a:avLst/>
          </a:prstGeom>
          <a:noFill/>
        </p:spPr>
        <p:txBody>
          <a:bodyPr wrap="square">
            <a:spAutoFit/>
          </a:bodyPr>
          <a:lstStyle/>
          <a:p>
            <a:pPr>
              <a:defRPr sz="1100" b="1">
                <a:solidFill>
                  <a:srgbClr val="0F172A"/>
                </a:solidFill>
              </a:defRPr>
            </a:pPr>
            <a:r>
              <a:t>Veri Parçalama (Sharding)</a:t>
            </a:r>
          </a:p>
        </p:txBody>
      </p:sp>
      <p:sp>
        <p:nvSpPr>
          <p:cNvPr id="15" name="TextBox 14"/>
          <p:cNvSpPr txBox="1"/>
          <p:nvPr/>
        </p:nvSpPr>
        <p:spPr>
          <a:xfrm>
            <a:off x="3005267" y="3017520"/>
            <a:ext cx="1816547" cy="3200400"/>
          </a:xfrm>
          <a:prstGeom prst="rect">
            <a:avLst/>
          </a:prstGeom>
          <a:noFill/>
        </p:spPr>
        <p:txBody>
          <a:bodyPr wrap="square">
            <a:spAutoFit/>
          </a:bodyPr>
          <a:lstStyle/>
          <a:p>
            <a:pPr>
              <a:spcAft>
                <a:spcPts val="400"/>
              </a:spcAft>
              <a:defRPr sz="1000">
                <a:solidFill>
                  <a:srgbClr val="64748B"/>
                </a:solidFill>
              </a:defRPr>
            </a:pPr>
            <a:r>
              <a:t>• DDIA Bölüm 6: Anahtar aralığına göre ve hash tabanlı parçalama.</a:t>
            </a:r>
          </a:p>
          <a:p>
            <a:pPr>
              <a:spcAft>
                <a:spcPts val="400"/>
              </a:spcAft>
              <a:defRPr sz="1000">
                <a:solidFill>
                  <a:srgbClr val="64748B"/>
                </a:solidFill>
              </a:defRPr>
            </a:pPr>
            <a:r>
              <a:t>• Mod-N yönteminin yeni düğüm eklendiğinde neden tüm veriyi taşıttığı.</a:t>
            </a:r>
          </a:p>
          <a:p>
            <a:pPr>
              <a:spcAft>
                <a:spcPts val="400"/>
              </a:spcAft>
              <a:defRPr sz="1000">
                <a:solidFill>
                  <a:srgbClr val="64748B"/>
                </a:solidFill>
              </a:defRPr>
            </a:pPr>
            <a:r>
              <a:t>• Tutarlı hashing (Consistent Hashing) dairesel modeli ve sıcak nokta çözümleri.</a:t>
            </a:r>
          </a:p>
          <a:p>
            <a:pPr>
              <a:spcAft>
                <a:spcPts val="400"/>
              </a:spcAft>
              <a:defRPr sz="1000">
                <a:solidFill>
                  <a:srgbClr val="64748B"/>
                </a:solidFill>
              </a:defRPr>
            </a:pPr>
            <a:r>
              <a:t>• Yerel vs global ikincil indeks ödünleşimleri; projede parçalamanın gereksizliği.</a:t>
            </a:r>
          </a:p>
        </p:txBody>
      </p:sp>
      <p:sp>
        <p:nvSpPr>
          <p:cNvPr id="16" name="Rounded Rectangle 15"/>
          <p:cNvSpPr/>
          <p:nvPr/>
        </p:nvSpPr>
        <p:spPr>
          <a:xfrm>
            <a:off x="5096134"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96134"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96134" y="1719072"/>
            <a:ext cx="1999427" cy="548640"/>
          </a:xfrm>
          <a:prstGeom prst="rect">
            <a:avLst/>
          </a:prstGeom>
          <a:noFill/>
        </p:spPr>
        <p:txBody>
          <a:bodyPr wrap="none">
            <a:spAutoFit/>
          </a:bodyPr>
          <a:lstStyle/>
          <a:p>
            <a:pPr algn="ctr">
              <a:defRPr sz="1200" b="1">
                <a:solidFill>
                  <a:srgbClr val="F8FAFC"/>
                </a:solidFill>
              </a:defRPr>
            </a:pPr>
            <a:r>
              <a:t>TATİL (15/07)</a:t>
            </a:r>
          </a:p>
        </p:txBody>
      </p:sp>
      <p:sp>
        <p:nvSpPr>
          <p:cNvPr id="19" name="TextBox 18"/>
          <p:cNvSpPr txBox="1"/>
          <p:nvPr/>
        </p:nvSpPr>
        <p:spPr>
          <a:xfrm>
            <a:off x="5205862" y="2331720"/>
            <a:ext cx="1779971" cy="640080"/>
          </a:xfrm>
          <a:prstGeom prst="rect">
            <a:avLst/>
          </a:prstGeom>
          <a:noFill/>
        </p:spPr>
        <p:txBody>
          <a:bodyPr wrap="square">
            <a:spAutoFit/>
          </a:bodyPr>
          <a:lstStyle/>
          <a:p>
            <a:pPr>
              <a:defRPr sz="1100" b="1">
                <a:solidFill>
                  <a:srgbClr val="0F172A"/>
                </a:solidFill>
              </a:defRPr>
            </a:pPr>
            <a:r>
              <a:t>Demokrasi ve Milli Birlik Günü</a:t>
            </a:r>
          </a:p>
        </p:txBody>
      </p:sp>
      <p:sp>
        <p:nvSpPr>
          <p:cNvPr id="20" name="TextBox 19"/>
          <p:cNvSpPr txBox="1"/>
          <p:nvPr/>
        </p:nvSpPr>
        <p:spPr>
          <a:xfrm>
            <a:off x="5187574" y="3017520"/>
            <a:ext cx="1816547" cy="3200400"/>
          </a:xfrm>
          <a:prstGeom prst="rect">
            <a:avLst/>
          </a:prstGeom>
          <a:noFill/>
        </p:spPr>
        <p:txBody>
          <a:bodyPr wrap="square">
            <a:spAutoFit/>
          </a:bodyPr>
          <a:lstStyle/>
          <a:p>
            <a:pPr>
              <a:spcAft>
                <a:spcPts val="400"/>
              </a:spcAft>
              <a:defRPr sz="1000">
                <a:solidFill>
                  <a:srgbClr val="64748B"/>
                </a:solidFill>
              </a:defRPr>
            </a:pPr>
            <a:r>
              <a:t>• 15 Temmuz Demokrasi ve Milli Birlik Günü resmi tatili.</a:t>
            </a:r>
          </a:p>
          <a:p>
            <a:pPr>
              <a:spcAft>
                <a:spcPts val="400"/>
              </a:spcAft>
              <a:defRPr sz="1000">
                <a:solidFill>
                  <a:srgbClr val="64748B"/>
                </a:solidFill>
              </a:defRPr>
            </a:pPr>
            <a:r>
              <a:t>• Haftalık takvim 4 iş günü üzerinden planlanmıştır.</a:t>
            </a:r>
          </a:p>
          <a:p>
            <a:pPr>
              <a:spcAft>
                <a:spcPts val="400"/>
              </a:spcAft>
              <a:defRPr sz="1000">
                <a:solidFill>
                  <a:srgbClr val="64748B"/>
                </a:solidFill>
              </a:defRPr>
            </a:pPr>
            <a:r>
              <a:t>• Teorik okumaların tekrarı ve kişisel kavram haritası çıkarımı.</a:t>
            </a:r>
          </a:p>
        </p:txBody>
      </p:sp>
      <p:sp>
        <p:nvSpPr>
          <p:cNvPr id="21" name="Rounded Rectangle 20"/>
          <p:cNvSpPr/>
          <p:nvPr/>
        </p:nvSpPr>
        <p:spPr>
          <a:xfrm>
            <a:off x="7278441"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78441" y="1645920"/>
            <a:ext cx="1999427" cy="6400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78441" y="1719072"/>
            <a:ext cx="1999427" cy="548640"/>
          </a:xfrm>
          <a:prstGeom prst="rect">
            <a:avLst/>
          </a:prstGeom>
          <a:noFill/>
        </p:spPr>
        <p:txBody>
          <a:bodyPr wrap="none">
            <a:spAutoFit/>
          </a:bodyPr>
          <a:lstStyle/>
          <a:p>
            <a:pPr algn="ctr">
              <a:defRPr sz="1200" b="1">
                <a:solidFill>
                  <a:srgbClr val="F8FAFC"/>
                </a:solidFill>
              </a:defRPr>
            </a:pPr>
            <a:r>
              <a:t>23. Gün (16/07)</a:t>
            </a:r>
          </a:p>
        </p:txBody>
      </p:sp>
      <p:sp>
        <p:nvSpPr>
          <p:cNvPr id="24" name="TextBox 23"/>
          <p:cNvSpPr txBox="1"/>
          <p:nvPr/>
        </p:nvSpPr>
        <p:spPr>
          <a:xfrm>
            <a:off x="7388169" y="2331720"/>
            <a:ext cx="1779971" cy="640080"/>
          </a:xfrm>
          <a:prstGeom prst="rect">
            <a:avLst/>
          </a:prstGeom>
          <a:noFill/>
        </p:spPr>
        <p:txBody>
          <a:bodyPr wrap="square">
            <a:spAutoFit/>
          </a:bodyPr>
          <a:lstStyle/>
          <a:p>
            <a:pPr>
              <a:defRPr sz="1100" b="1">
                <a:solidFill>
                  <a:srgbClr val="0F172A"/>
                </a:solidFill>
              </a:defRPr>
            </a:pPr>
            <a:r>
              <a:t>Transaction'lar &amp; İzolasyon Seviyeleri</a:t>
            </a:r>
          </a:p>
        </p:txBody>
      </p:sp>
      <p:sp>
        <p:nvSpPr>
          <p:cNvPr id="25" name="TextBox 24"/>
          <p:cNvSpPr txBox="1"/>
          <p:nvPr/>
        </p:nvSpPr>
        <p:spPr>
          <a:xfrm>
            <a:off x="7369881" y="3017520"/>
            <a:ext cx="1816547" cy="3200400"/>
          </a:xfrm>
          <a:prstGeom prst="rect">
            <a:avLst/>
          </a:prstGeom>
          <a:noFill/>
        </p:spPr>
        <p:txBody>
          <a:bodyPr wrap="square">
            <a:spAutoFit/>
          </a:bodyPr>
          <a:lstStyle/>
          <a:p>
            <a:pPr>
              <a:spcAft>
                <a:spcPts val="400"/>
              </a:spcAft>
              <a:defRPr sz="1000">
                <a:solidFill>
                  <a:srgbClr val="64748B"/>
                </a:solidFill>
              </a:defRPr>
            </a:pPr>
            <a:r>
              <a:t>• DDIA Bölüm 7: Zayıf izolasyon seviyeleri (Read Committed, Snapshot) ve MVCC.</a:t>
            </a:r>
          </a:p>
          <a:p>
            <a:pPr>
              <a:spcAft>
                <a:spcPts val="400"/>
              </a:spcAft>
              <a:defRPr sz="1000">
                <a:solidFill>
                  <a:srgbClr val="64748B"/>
                </a:solidFill>
              </a:defRPr>
            </a:pPr>
            <a:r>
              <a:t>• Kayıp güncelleme, okuma çarpıklığı ve hayalet (phantom) okuma anomalileri.</a:t>
            </a:r>
          </a:p>
          <a:p>
            <a:pPr>
              <a:spcAft>
                <a:spcPts val="400"/>
              </a:spcAft>
              <a:defRPr sz="1000">
                <a:solidFill>
                  <a:srgbClr val="64748B"/>
                </a:solidFill>
              </a:defRPr>
            </a:pPr>
            <a:r>
              <a:t>• Write-skew'ün henüz var olmayan satırlar üzerinde çakışma olduğu tespiti.</a:t>
            </a:r>
          </a:p>
          <a:p>
            <a:pPr>
              <a:spcAft>
                <a:spcPts val="400"/>
              </a:spcAft>
              <a:defRPr sz="1000">
                <a:solidFill>
                  <a:srgbClr val="64748B"/>
                </a:solidFill>
              </a:defRPr>
            </a:pPr>
            <a:r>
              <a:t>• Serileştirilebilir anlık görüntü izolasyonunun (SSI) iyimser yaklaşımı ve retry bedeli.</a:t>
            </a:r>
          </a:p>
        </p:txBody>
      </p:sp>
      <p:sp>
        <p:nvSpPr>
          <p:cNvPr id="26" name="Rounded Rectangle 25"/>
          <p:cNvSpPr/>
          <p:nvPr/>
        </p:nvSpPr>
        <p:spPr>
          <a:xfrm>
            <a:off x="9460748"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460748"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60748" y="1719072"/>
            <a:ext cx="1999427" cy="548640"/>
          </a:xfrm>
          <a:prstGeom prst="rect">
            <a:avLst/>
          </a:prstGeom>
          <a:noFill/>
        </p:spPr>
        <p:txBody>
          <a:bodyPr wrap="none">
            <a:spAutoFit/>
          </a:bodyPr>
          <a:lstStyle/>
          <a:p>
            <a:pPr algn="ctr">
              <a:defRPr sz="1200" b="1">
                <a:solidFill>
                  <a:srgbClr val="F8FAFC"/>
                </a:solidFill>
              </a:defRPr>
            </a:pPr>
            <a:r>
              <a:t>24. Gün (17/07)</a:t>
            </a:r>
          </a:p>
        </p:txBody>
      </p:sp>
      <p:sp>
        <p:nvSpPr>
          <p:cNvPr id="29" name="TextBox 28"/>
          <p:cNvSpPr txBox="1"/>
          <p:nvPr/>
        </p:nvSpPr>
        <p:spPr>
          <a:xfrm>
            <a:off x="9570476" y="2331720"/>
            <a:ext cx="1779971" cy="640080"/>
          </a:xfrm>
          <a:prstGeom prst="rect">
            <a:avLst/>
          </a:prstGeom>
          <a:noFill/>
        </p:spPr>
        <p:txBody>
          <a:bodyPr wrap="square">
            <a:spAutoFit/>
          </a:bodyPr>
          <a:lstStyle/>
          <a:p>
            <a:pPr>
              <a:defRPr sz="1100" b="1">
                <a:solidFill>
                  <a:srgbClr val="0F172A"/>
                </a:solidFill>
              </a:defRPr>
            </a:pPr>
            <a:r>
              <a:t>Dağıtık Ağlar, Saatler &amp; Tutarlılık</a:t>
            </a:r>
          </a:p>
        </p:txBody>
      </p:sp>
      <p:sp>
        <p:nvSpPr>
          <p:cNvPr id="30" name="TextBox 29"/>
          <p:cNvSpPr txBox="1"/>
          <p:nvPr/>
        </p:nvSpPr>
        <p:spPr>
          <a:xfrm>
            <a:off x="9552188" y="3017520"/>
            <a:ext cx="1816547" cy="3200400"/>
          </a:xfrm>
          <a:prstGeom prst="rect">
            <a:avLst/>
          </a:prstGeom>
          <a:noFill/>
        </p:spPr>
        <p:txBody>
          <a:bodyPr wrap="square">
            <a:spAutoFit/>
          </a:bodyPr>
          <a:lstStyle/>
          <a:p>
            <a:pPr>
              <a:spcAft>
                <a:spcPts val="400"/>
              </a:spcAft>
              <a:defRPr sz="1000">
                <a:solidFill>
                  <a:srgbClr val="64748B"/>
                </a:solidFill>
              </a:defRPr>
            </a:pPr>
            <a:r>
              <a:t>• DDIA Bölüm 8-9: Güvenilmez ağlar ve zaman aşımının belirsizliği (cevap yoksa 3 ihtimal).</a:t>
            </a:r>
          </a:p>
          <a:p>
            <a:pPr>
              <a:spcAft>
                <a:spcPts val="400"/>
              </a:spcAft>
              <a:defRPr sz="1000">
                <a:solidFill>
                  <a:srgbClr val="64748B"/>
                </a:solidFill>
              </a:defRPr>
            </a:pPr>
            <a:r>
              <a:t>• Duvar saati ile monotonik saat farkı; saat kaymasının LWW veri kaybı riski.</a:t>
            </a:r>
          </a:p>
          <a:p>
            <a:pPr>
              <a:spcAft>
                <a:spcPts val="400"/>
              </a:spcAft>
              <a:defRPr sz="1000">
                <a:solidFill>
                  <a:srgbClr val="64748B"/>
                </a:solidFill>
              </a:defRPr>
            </a:pPr>
            <a:r>
              <a:t>• Süreç duraklamaları ve fencing token (artan numara) güvencesi.</a:t>
            </a:r>
          </a:p>
          <a:p>
            <a:pPr>
              <a:spcAft>
                <a:spcPts val="400"/>
              </a:spcAft>
              <a:defRPr sz="1000">
                <a:solidFill>
                  <a:srgbClr val="64748B"/>
                </a:solidFill>
              </a:defRPr>
            </a:pPr>
            <a:r>
              <a:t>• CAP teoreminin popüler özetinin yanıltıcılığı ve konsensüs maliyeti.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5. HAFTA (13-17 TEMMUZ 2026)  •  TEKNIK MIMARI &amp; İNCELEME</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Şema Uyumluluğu ve İzolasyon Seviyeleri Analizi</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548640"/>
          </a:xfrm>
          <a:prstGeom prst="rect">
            <a:avLst/>
          </a:prstGeom>
          <a:noFill/>
        </p:spPr>
        <p:txBody>
          <a:bodyPr wrap="none">
            <a:spAutoFit/>
          </a:bodyPr>
          <a:lstStyle/>
          <a:p>
            <a:pPr>
              <a:defRPr sz="1600" b="1">
                <a:solidFill>
                  <a:srgbClr val="0369A1"/>
                </a:solidFill>
              </a:defRPr>
            </a:pPr>
            <a:r>
              <a:t>Şema Evrimi &amp; 'Veri Koddan Uzun Yaşar'</a:t>
            </a:r>
          </a:p>
        </p:txBody>
      </p:sp>
      <p:sp>
        <p:nvSpPr>
          <p:cNvPr id="8" name="TextBox 7"/>
          <p:cNvSpPr txBox="1"/>
          <p:nvPr/>
        </p:nvSpPr>
        <p:spPr>
          <a:xfrm>
            <a:off x="914400" y="2423160"/>
            <a:ext cx="4846320" cy="2560320"/>
          </a:xfrm>
          <a:prstGeom prst="rect">
            <a:avLst/>
          </a:prstGeom>
          <a:noFill/>
        </p:spPr>
        <p:txBody>
          <a:bodyPr wrap="square">
            <a:spAutoFit/>
          </a:bodyPr>
          <a:lstStyle/>
          <a:p>
            <a:pPr>
              <a:spcAft>
                <a:spcPts val="600"/>
              </a:spcAft>
              <a:defRPr sz="1200">
                <a:solidFill>
                  <a:srgbClr val="0F172A"/>
                </a:solidFill>
              </a:defRPr>
            </a:pPr>
            <a:r>
              <a:t>• Uyumluluğun İki Yönü: Geriye dönük uyumluluk (yeni kodun eski veriyi okuyabilmesi) görece kolayken; ileriye dönük uyumluluk (eski kodun gelecekteki veriyi okuyabilmesi) asıl zorluktur.</a:t>
            </a:r>
          </a:p>
          <a:p>
            <a:pPr>
              <a:spcAft>
                <a:spcPts val="600"/>
              </a:spcAft>
              <a:defRPr sz="1200">
                <a:solidFill>
                  <a:srgbClr val="0F172A"/>
                </a:solidFill>
              </a:defRPr>
            </a:pPr>
            <a:r>
              <a:t>• Alan Etiketi İlkesi: Protocol Buffers alan adını değil sayısal etiketi kodlar. Alan adı değişse de veri bozulmaz, fakat etiket değişirse sistem çöker.</a:t>
            </a:r>
          </a:p>
          <a:p>
            <a:pPr>
              <a:spcAft>
                <a:spcPts val="600"/>
              </a:spcAft>
              <a:defRPr sz="1200">
                <a:solidFill>
                  <a:srgbClr val="0F172A"/>
                </a:solidFill>
              </a:defRPr>
            </a:pPr>
            <a:r>
              <a:t>• Metin Formatlarının Tuzağı: JSON tam sayı ile float ayrımı yapmaz; CSV ise şemasızdır. Tesis verisi CSV'den aktarılırken yaşanan tip karmaşası bunun kanıtıydı.</a:t>
            </a:r>
          </a:p>
          <a:p>
            <a:pPr>
              <a:spcAft>
                <a:spcPts val="600"/>
              </a:spcAft>
              <a:defRPr sz="1200">
                <a:solidFill>
                  <a:srgbClr val="0F172A"/>
                </a:solidFill>
              </a:defRPr>
            </a:pPr>
            <a:r>
              <a:t>• Proje Çıkarımı: Dondurulmuş sipariş fiyatı kararı doğrulandı; geçmiş kayıtların anlamı kodu yazan neslin ömrüne bağlı kalmamalıdır.</a:t>
            </a:r>
          </a:p>
        </p:txBody>
      </p:sp>
      <p:sp>
        <p:nvSpPr>
          <p:cNvPr id="9" name="Rounded Rectangle 8"/>
          <p:cNvSpPr/>
          <p:nvPr/>
        </p:nvSpPr>
        <p:spPr>
          <a:xfrm>
            <a:off x="6217920" y="1645920"/>
            <a:ext cx="521208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4846320" cy="548640"/>
          </a:xfrm>
          <a:prstGeom prst="rect">
            <a:avLst/>
          </a:prstGeom>
          <a:noFill/>
        </p:spPr>
        <p:txBody>
          <a:bodyPr wrap="none">
            <a:spAutoFit/>
          </a:bodyPr>
          <a:lstStyle/>
          <a:p>
            <a:pPr>
              <a:defRPr sz="1600" b="1">
                <a:solidFill>
                  <a:srgbClr val="6366F1"/>
                </a:solidFill>
              </a:defRPr>
            </a:pPr>
            <a:r>
              <a:t>İzolasyon Seviyeleri &amp; SSI (PostgreSQL Temeli)</a:t>
            </a:r>
          </a:p>
        </p:txBody>
      </p:sp>
      <p:sp>
        <p:nvSpPr>
          <p:cNvPr id="11" name="TextBox 10"/>
          <p:cNvSpPr txBox="1"/>
          <p:nvPr/>
        </p:nvSpPr>
        <p:spPr>
          <a:xfrm>
            <a:off x="6400800" y="2423160"/>
            <a:ext cx="4846320" cy="2560320"/>
          </a:xfrm>
          <a:prstGeom prst="rect">
            <a:avLst/>
          </a:prstGeom>
          <a:noFill/>
        </p:spPr>
        <p:txBody>
          <a:bodyPr wrap="square">
            <a:spAutoFit/>
          </a:bodyPr>
          <a:lstStyle/>
          <a:p>
            <a:pPr>
              <a:spcAft>
                <a:spcPts val="600"/>
              </a:spcAft>
              <a:defRPr sz="1200">
                <a:solidFill>
                  <a:srgbClr val="0F172A"/>
                </a:solidFill>
              </a:defRPr>
            </a:pPr>
            <a:r>
              <a:t>• MVCC Gücü: Snapshot Isolation, uzun süren analitik sorguların rezervasyon yazmalarını engellemeden tutarlı bir fotoğraf görmesini sağlar.</a:t>
            </a:r>
          </a:p>
          <a:p>
            <a:pPr>
              <a:spcAft>
                <a:spcPts val="600"/>
              </a:spcAft>
              <a:defRPr sz="1200">
                <a:solidFill>
                  <a:srgbClr val="0F172A"/>
                </a:solidFill>
              </a:defRPr>
            </a:pPr>
            <a:r>
              <a:t>• Write-Skew Farkı: Kayıp güncellemede iki işlem aynı satırı ezer. Write-skew'de ise işlemler farklı satırlara yazar ama ortak bir iş kuralını kırarlar.</a:t>
            </a:r>
          </a:p>
          <a:p>
            <a:pPr>
              <a:spcAft>
                <a:spcPts val="600"/>
              </a:spcAft>
              <a:defRPr sz="1200">
                <a:solidFill>
                  <a:srgbClr val="0F172A"/>
                </a:solidFill>
              </a:defRPr>
            </a:pPr>
            <a:r>
              <a:t>• Serileştirilebilirliğin Bedeli: Gerçek seri yürütme tek iş parçacığıyla sınırlıdır; 2PL karamsardır ve kilitlenme (deadlock) üretir.</a:t>
            </a:r>
          </a:p>
          <a:p>
            <a:pPr>
              <a:spcAft>
                <a:spcPts val="600"/>
              </a:spcAft>
              <a:defRPr sz="1200">
                <a:solidFill>
                  <a:srgbClr val="0F172A"/>
                </a:solidFill>
              </a:defRPr>
            </a:pPr>
            <a:r>
              <a:t>• SSI (Serializable Snapshot Isolation): İyimser yürütür, commit anında çakışma varsa iptal eder. Uygulama tarafında yeniden deneme (retry) mekanizması zorunlu kılar.</a:t>
            </a:r>
          </a:p>
        </p:txBody>
      </p:sp>
      <p:sp>
        <p:nvSpPr>
          <p:cNvPr id="12" name="Rounded Rectangle 11"/>
          <p:cNvSpPr/>
          <p:nvPr/>
        </p:nvSpPr>
        <p:spPr>
          <a:xfrm>
            <a:off x="731520" y="5303520"/>
            <a:ext cx="10728655" cy="1097280"/>
          </a:xfrm>
          <a:prstGeom prst="roundRect">
            <a:avLst/>
          </a:prstGeom>
          <a:solidFill>
            <a:srgbClr val="F1F5F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413248"/>
            <a:ext cx="10362895" cy="320040"/>
          </a:xfrm>
          <a:prstGeom prst="rect">
            <a:avLst/>
          </a:prstGeom>
          <a:noFill/>
        </p:spPr>
        <p:txBody>
          <a:bodyPr wrap="none">
            <a:spAutoFit/>
          </a:bodyPr>
          <a:lstStyle/>
          <a:p>
            <a:pPr>
              <a:defRPr sz="1200" b="1">
                <a:solidFill>
                  <a:srgbClr val="0369A1"/>
                </a:solidFill>
              </a:defRPr>
            </a:pPr>
            <a:r>
              <a:t>💡 Mentör Savunma &amp; Jüri Notu (APoSD &amp; DDIA Yaklaşımı)</a:t>
            </a:r>
          </a:p>
        </p:txBody>
      </p:sp>
      <p:sp>
        <p:nvSpPr>
          <p:cNvPr id="14" name="TextBox 13"/>
          <p:cNvSpPr txBox="1"/>
          <p:nvPr/>
        </p:nvSpPr>
        <p:spPr>
          <a:xfrm>
            <a:off x="914400" y="5715000"/>
            <a:ext cx="10362895" cy="594360"/>
          </a:xfrm>
          <a:prstGeom prst="rect">
            <a:avLst/>
          </a:prstGeom>
          <a:noFill/>
        </p:spPr>
        <p:txBody>
          <a:bodyPr wrap="square">
            <a:spAutoFit/>
          </a:bodyPr>
          <a:lstStyle/>
          <a:p>
            <a:pPr>
              <a:defRPr sz="1100">
                <a:solidFill>
                  <a:srgbClr val="0F172A"/>
                </a:solidFill>
              </a:defRPr>
            </a:pPr>
            <a:r>
              <a:t>CAP teoremi 'üçünden ikisini seç' demek değildir. Bir ağ bölünmesi (network partition) kaçınılmaz olarak yaşandığında, sistemin doğrusallaştırılabilirlik (CP) mi yoksa erişilebilirlik (AP) mi seçeceğini belirler. Projemiz tek düğümlü olduğu için sharding karmaşıklığı bilinçli olarak reddedilmiştir.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5. HAFTA (13-17 TEMMUZ 2026)  •  KAZANIMLAR &amp; SAVUNMA</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Haftanın Mühendislik Çıkarımları ve Karar Özeti</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828800"/>
            <a:ext cx="73152" cy="4572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2907792" cy="548640"/>
          </a:xfrm>
          <a:prstGeom prst="rect">
            <a:avLst/>
          </a:prstGeom>
          <a:noFill/>
        </p:spPr>
        <p:txBody>
          <a:bodyPr wrap="none">
            <a:spAutoFit/>
          </a:bodyPr>
          <a:lstStyle/>
          <a:p>
            <a:pPr>
              <a:defRPr sz="1500" b="1">
                <a:solidFill>
                  <a:srgbClr val="0F172A"/>
                </a:solidFill>
              </a:defRPr>
            </a:pPr>
            <a:r>
              <a:t>Veri Koddan Uzun Yaşar</a:t>
            </a:r>
          </a:p>
        </p:txBody>
      </p:sp>
      <p:sp>
        <p:nvSpPr>
          <p:cNvPr id="9" name="TextBox 8"/>
          <p:cNvSpPr txBox="1"/>
          <p:nvPr/>
        </p:nvSpPr>
        <p:spPr>
          <a:xfrm>
            <a:off x="914400" y="2423160"/>
            <a:ext cx="2999232" cy="2377440"/>
          </a:xfrm>
          <a:prstGeom prst="rect">
            <a:avLst/>
          </a:prstGeom>
          <a:noFill/>
        </p:spPr>
        <p:txBody>
          <a:bodyPr wrap="square">
            <a:spAutoFit/>
          </a:bodyPr>
          <a:lstStyle/>
          <a:p>
            <a:pPr>
              <a:spcAft>
                <a:spcPts val="500"/>
              </a:spcAft>
              <a:defRPr sz="1100">
                <a:solidFill>
                  <a:srgbClr val="64748B"/>
                </a:solidFill>
              </a:defRPr>
            </a:pPr>
            <a:r>
              <a:t>• Kodu istediğin zaman baştan yazabilirsin, ancak 5 yıllık veritabanı kaydı orada durur.</a:t>
            </a:r>
          </a:p>
          <a:p>
            <a:pPr>
              <a:spcAft>
                <a:spcPts val="500"/>
              </a:spcAft>
              <a:defRPr sz="1100">
                <a:solidFill>
                  <a:srgbClr val="64748B"/>
                </a:solidFill>
              </a:defRPr>
            </a:pPr>
            <a:r>
              <a:t>• Şema değişikliklerinde yeni alanlar daima opsiyonel olmalıdır.</a:t>
            </a:r>
          </a:p>
          <a:p>
            <a:pPr>
              <a:spcAft>
                <a:spcPts val="500"/>
              </a:spcAft>
              <a:defRPr sz="1100">
                <a:solidFill>
                  <a:srgbClr val="64748B"/>
                </a:solidFill>
              </a:defRPr>
            </a:pPr>
            <a:r>
              <a:t>• API uçları bir sözleşmedir; değiştirilmesinin bedeli ağırdır.</a:t>
            </a:r>
          </a:p>
        </p:txBody>
      </p:sp>
      <p:sp>
        <p:nvSpPr>
          <p:cNvPr id="10" name="Rounded Rectangle 9"/>
          <p:cNvSpPr/>
          <p:nvPr/>
        </p:nvSpPr>
        <p:spPr>
          <a:xfrm>
            <a:off x="4407408"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0288" y="1828800"/>
            <a:ext cx="73152" cy="4572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7448" y="1783080"/>
            <a:ext cx="2907792" cy="548640"/>
          </a:xfrm>
          <a:prstGeom prst="rect">
            <a:avLst/>
          </a:prstGeom>
          <a:noFill/>
        </p:spPr>
        <p:txBody>
          <a:bodyPr wrap="none">
            <a:spAutoFit/>
          </a:bodyPr>
          <a:lstStyle/>
          <a:p>
            <a:pPr>
              <a:defRPr sz="1500" b="1">
                <a:solidFill>
                  <a:srgbClr val="0F172A"/>
                </a:solidFill>
              </a:defRPr>
            </a:pPr>
            <a:r>
              <a:t>Zaman Aşımı Belirsizliği</a:t>
            </a:r>
          </a:p>
        </p:txBody>
      </p:sp>
      <p:sp>
        <p:nvSpPr>
          <p:cNvPr id="13" name="TextBox 12"/>
          <p:cNvSpPr txBox="1"/>
          <p:nvPr/>
        </p:nvSpPr>
        <p:spPr>
          <a:xfrm>
            <a:off x="4590288" y="2423160"/>
            <a:ext cx="2999232" cy="2377440"/>
          </a:xfrm>
          <a:prstGeom prst="rect">
            <a:avLst/>
          </a:prstGeom>
          <a:noFill/>
        </p:spPr>
        <p:txBody>
          <a:bodyPr wrap="square">
            <a:spAutoFit/>
          </a:bodyPr>
          <a:lstStyle/>
          <a:p>
            <a:pPr>
              <a:spcAft>
                <a:spcPts val="500"/>
              </a:spcAft>
              <a:defRPr sz="1100">
                <a:solidFill>
                  <a:srgbClr val="64748B"/>
                </a:solidFill>
              </a:defRPr>
            </a:pPr>
            <a:r>
              <a:t>• Cevapsızlık bir bilgi değildir; istek yolda kaybolmuş, düğüm çökmüş veya yanıt dönmemiş olabilir.</a:t>
            </a:r>
          </a:p>
          <a:p>
            <a:pPr>
              <a:spcAft>
                <a:spcPts val="500"/>
              </a:spcAft>
              <a:defRPr sz="1100">
                <a:solidFill>
                  <a:srgbClr val="64748B"/>
                </a:solidFill>
              </a:defRPr>
            </a:pPr>
            <a:r>
              <a:t>• Timeout ayarı bir tahmindir; kısa tutarsan canlıyı öldürürsün, uzun tutarsan askıda kalırsın.</a:t>
            </a:r>
          </a:p>
          <a:p>
            <a:pPr>
              <a:spcAft>
                <a:spcPts val="500"/>
              </a:spcAft>
              <a:defRPr sz="1100">
                <a:solidFill>
                  <a:srgbClr val="64748B"/>
                </a:solidFill>
              </a:defRPr>
            </a:pPr>
            <a:r>
              <a:t>• Her dış çağrıya üst sınır konması şarttır.</a:t>
            </a:r>
          </a:p>
        </p:txBody>
      </p:sp>
      <p:sp>
        <p:nvSpPr>
          <p:cNvPr id="14" name="Rounded Rectangle 13"/>
          <p:cNvSpPr/>
          <p:nvPr/>
        </p:nvSpPr>
        <p:spPr>
          <a:xfrm>
            <a:off x="8083296"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66176" y="1828800"/>
            <a:ext cx="73152"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03336" y="1783080"/>
            <a:ext cx="2907792" cy="548640"/>
          </a:xfrm>
          <a:prstGeom prst="rect">
            <a:avLst/>
          </a:prstGeom>
          <a:noFill/>
        </p:spPr>
        <p:txBody>
          <a:bodyPr wrap="none">
            <a:spAutoFit/>
          </a:bodyPr>
          <a:lstStyle/>
          <a:p>
            <a:pPr>
              <a:defRPr sz="1500" b="1">
                <a:solidFill>
                  <a:srgbClr val="0F172A"/>
                </a:solidFill>
              </a:defRPr>
            </a:pPr>
            <a:r>
              <a:t>Gereksiz Karmaşıklığı Reddetme</a:t>
            </a:r>
          </a:p>
        </p:txBody>
      </p:sp>
      <p:sp>
        <p:nvSpPr>
          <p:cNvPr id="17" name="TextBox 16"/>
          <p:cNvSpPr txBox="1"/>
          <p:nvPr/>
        </p:nvSpPr>
        <p:spPr>
          <a:xfrm>
            <a:off x="8266176" y="2423160"/>
            <a:ext cx="2999232" cy="2377440"/>
          </a:xfrm>
          <a:prstGeom prst="rect">
            <a:avLst/>
          </a:prstGeom>
          <a:noFill/>
        </p:spPr>
        <p:txBody>
          <a:bodyPr wrap="square">
            <a:spAutoFit/>
          </a:bodyPr>
          <a:lstStyle/>
          <a:p>
            <a:pPr>
              <a:spcAft>
                <a:spcPts val="500"/>
              </a:spcAft>
              <a:defRPr sz="1100">
                <a:solidFill>
                  <a:srgbClr val="64748B"/>
                </a:solidFill>
              </a:defRPr>
            </a:pPr>
            <a:r>
              <a:t>• Sosyal tesis ölçeğinde sharding / parçalama tamamen gereksizdir.</a:t>
            </a:r>
          </a:p>
          <a:p>
            <a:pPr>
              <a:spcAft>
                <a:spcPts val="500"/>
              </a:spcAft>
              <a:defRPr sz="1100">
                <a:solidFill>
                  <a:srgbClr val="64748B"/>
                </a:solidFill>
              </a:defRPr>
            </a:pPr>
            <a:r>
              <a:t>• Tek düğümlü sağlam bir RDBMS fazlasıyla yeterlidir.</a:t>
            </a:r>
          </a:p>
          <a:p>
            <a:pPr>
              <a:spcAft>
                <a:spcPts val="500"/>
              </a:spcAft>
              <a:defRPr sz="1100">
                <a:solidFill>
                  <a:srgbClr val="64748B"/>
                </a:solidFill>
              </a:defRPr>
            </a:pPr>
            <a:r>
              <a:t>• İhtiyaç duyulmayan dağıtık teknolojileri kullanmamak da bir mühendislik kararıdır.</a:t>
            </a:r>
          </a:p>
        </p:txBody>
      </p:sp>
      <p:sp>
        <p:nvSpPr>
          <p:cNvPr id="18" name="Rounded Rectangle 17"/>
          <p:cNvSpPr/>
          <p:nvPr/>
        </p:nvSpPr>
        <p:spPr>
          <a:xfrm>
            <a:off x="731520" y="5212080"/>
            <a:ext cx="10728655" cy="11887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349240"/>
            <a:ext cx="10180015" cy="914400"/>
          </a:xfrm>
          <a:prstGeom prst="rect">
            <a:avLst/>
          </a:prstGeom>
          <a:noFill/>
        </p:spPr>
        <p:txBody>
          <a:bodyPr wrap="square">
            <a:spAutoFit/>
          </a:bodyPr>
          <a:lstStyle/>
          <a:p>
            <a:pPr>
              <a:defRPr sz="1300" i="1">
                <a:solidFill>
                  <a:srgbClr val="E0F2FE"/>
                </a:solidFill>
              </a:defRPr>
            </a:pPr>
            <a:r>
              <a:t>"Dağıtık sistemlerin asıl zorluğu bileşen sayısı değil; hiçbir bileşenin sistemin bütününü anlık ve kesin olarak görememesidir. Saatler kayar, ağlar bölünür, cevapsızlık belirsizliktir."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