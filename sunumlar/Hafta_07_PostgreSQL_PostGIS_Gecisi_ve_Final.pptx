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731520"/>
            <a:ext cx="137160" cy="16459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685800"/>
            <a:ext cx="7315200" cy="365760"/>
          </a:xfrm>
          <a:prstGeom prst="rect">
            <a:avLst/>
          </a:prstGeom>
          <a:noFill/>
        </p:spPr>
        <p:txBody>
          <a:bodyPr wrap="none">
            <a:spAutoFit/>
          </a:bodyPr>
          <a:lstStyle/>
          <a:p>
            <a:pPr>
              <a:defRPr sz="1200" b="1">
                <a:solidFill>
                  <a:srgbClr val="0EA5E9"/>
                </a:solidFill>
              </a:defRPr>
            </a:pPr>
            <a:r>
              <a:t>NETCAD YAZILIM A.Ş. | TEKNOLOJİ ÇÖZÜMLERİ DEPARTMANI — 7. HAFTA (FINAL)</a:t>
            </a:r>
          </a:p>
        </p:txBody>
      </p:sp>
      <p:sp>
        <p:nvSpPr>
          <p:cNvPr id="5" name="TextBox 4"/>
          <p:cNvSpPr txBox="1"/>
          <p:nvPr/>
        </p:nvSpPr>
        <p:spPr>
          <a:xfrm>
            <a:off x="1188720" y="1051560"/>
            <a:ext cx="9601200" cy="1188720"/>
          </a:xfrm>
          <a:prstGeom prst="rect">
            <a:avLst/>
          </a:prstGeom>
          <a:noFill/>
        </p:spPr>
        <p:txBody>
          <a:bodyPr wrap="square">
            <a:spAutoFit/>
          </a:bodyPr>
          <a:lstStyle/>
          <a:p>
            <a:pPr>
              <a:defRPr sz="3200" b="1">
                <a:solidFill>
                  <a:srgbClr val="F8FAFC"/>
                </a:solidFill>
              </a:defRPr>
            </a:pPr>
            <a:r>
              <a:t>PostgreSQL 16 + PostGIS Geçişi ve Final Sunumu</a:t>
            </a:r>
          </a:p>
        </p:txBody>
      </p:sp>
      <p:sp>
        <p:nvSpPr>
          <p:cNvPr id="6" name="TextBox 5"/>
          <p:cNvSpPr txBox="1"/>
          <p:nvPr/>
        </p:nvSpPr>
        <p:spPr>
          <a:xfrm>
            <a:off x="1188720" y="2286000"/>
            <a:ext cx="9601200" cy="548640"/>
          </a:xfrm>
          <a:prstGeom prst="rect">
            <a:avLst/>
          </a:prstGeom>
          <a:noFill/>
        </p:spPr>
        <p:txBody>
          <a:bodyPr wrap="none">
            <a:spAutoFit/>
          </a:bodyPr>
          <a:lstStyle/>
          <a:p>
            <a:pPr>
              <a:defRPr sz="1600">
                <a:solidFill>
                  <a:srgbClr val="64748B"/>
                </a:solidFill>
              </a:defRPr>
            </a:pPr>
            <a:r>
              <a:t>🗓️ 27 Temmuz 2026   |   Mekansal İndeksleme, SERIALIZABLE İzolasyon, İBB Açık Veri &amp; SSE Canlı Akış</a:t>
            </a:r>
          </a:p>
        </p:txBody>
      </p:sp>
      <p:sp>
        <p:nvSpPr>
          <p:cNvPr id="7" name="Rounded Rectangle 6"/>
          <p:cNvSpPr/>
          <p:nvPr/>
        </p:nvSpPr>
        <p:spPr>
          <a:xfrm>
            <a:off x="914400" y="3200400"/>
            <a:ext cx="3154680" cy="292608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3383280"/>
            <a:ext cx="2788920" cy="548640"/>
          </a:xfrm>
          <a:prstGeom prst="rect">
            <a:avLst/>
          </a:prstGeom>
          <a:noFill/>
        </p:spPr>
        <p:txBody>
          <a:bodyPr wrap="square">
            <a:spAutoFit/>
          </a:bodyPr>
          <a:lstStyle/>
          <a:p>
            <a:pPr>
              <a:defRPr sz="1500" b="1">
                <a:solidFill>
                  <a:srgbClr val="0EA5E9"/>
                </a:solidFill>
              </a:defRPr>
            </a:pPr>
            <a:r>
              <a:t>PostgreSQL &amp; PostGIS (ADR-009)</a:t>
            </a:r>
          </a:p>
        </p:txBody>
      </p:sp>
      <p:sp>
        <p:nvSpPr>
          <p:cNvPr id="9" name="TextBox 8"/>
          <p:cNvSpPr txBox="1"/>
          <p:nvPr/>
        </p:nvSpPr>
        <p:spPr>
          <a:xfrm>
            <a:off x="1097280" y="3977640"/>
            <a:ext cx="2788920" cy="2011680"/>
          </a:xfrm>
          <a:prstGeom prst="rect">
            <a:avLst/>
          </a:prstGeom>
          <a:noFill/>
        </p:spPr>
        <p:txBody>
          <a:bodyPr wrap="square">
            <a:spAutoFit/>
          </a:bodyPr>
          <a:lstStyle/>
          <a:p>
            <a:pPr>
              <a:spcAft>
                <a:spcPts val="600"/>
              </a:spcAft>
              <a:defRPr sz="1200">
                <a:solidFill>
                  <a:srgbClr val="E2E8F0"/>
                </a:solidFill>
              </a:defRPr>
            </a:pPr>
            <a:r>
              <a:t>• Mekansal işlerin DB seviyesine indirilmesi</a:t>
            </a:r>
          </a:p>
          <a:p>
            <a:pPr>
              <a:spcAft>
                <a:spcPts val="600"/>
              </a:spcAft>
              <a:defRPr sz="1200">
                <a:solidFill>
                  <a:srgbClr val="E2E8F0"/>
                </a:solidFill>
              </a:defRPr>
            </a:pPr>
            <a:r>
              <a:t>• ST_Contains, ST_Distance, GiST KNN</a:t>
            </a:r>
          </a:p>
          <a:p>
            <a:pPr>
              <a:spcAft>
                <a:spcPts val="600"/>
              </a:spcAft>
              <a:defRPr sz="1200">
                <a:solidFill>
                  <a:srgbClr val="E2E8F0"/>
                </a:solidFill>
              </a:defRPr>
            </a:pPr>
            <a:r>
              <a:t>• Derece vs metre (geography) hatasının çözümü</a:t>
            </a:r>
          </a:p>
          <a:p>
            <a:pPr>
              <a:spcAft>
                <a:spcPts val="600"/>
              </a:spcAft>
              <a:defRPr sz="1200">
                <a:solidFill>
                  <a:srgbClr val="E2E8F0"/>
                </a:solidFill>
              </a:defRPr>
            </a:pPr>
            <a:r>
              <a:t>• 3.7 MB dosya okuma maliyetinin kalkması</a:t>
            </a:r>
          </a:p>
        </p:txBody>
      </p:sp>
      <p:sp>
        <p:nvSpPr>
          <p:cNvPr id="10" name="Rounded Rectangle 9"/>
          <p:cNvSpPr/>
          <p:nvPr/>
        </p:nvSpPr>
        <p:spPr>
          <a:xfrm>
            <a:off x="4389120" y="3200400"/>
            <a:ext cx="3154680" cy="292608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3383280"/>
            <a:ext cx="2788920" cy="548640"/>
          </a:xfrm>
          <a:prstGeom prst="rect">
            <a:avLst/>
          </a:prstGeom>
          <a:noFill/>
        </p:spPr>
        <p:txBody>
          <a:bodyPr wrap="square">
            <a:spAutoFit/>
          </a:bodyPr>
          <a:lstStyle/>
          <a:p>
            <a:pPr>
              <a:defRPr sz="1500" b="1">
                <a:solidFill>
                  <a:srgbClr val="0EA5E9"/>
                </a:solidFill>
              </a:defRPr>
            </a:pPr>
            <a:r>
              <a:t>Gerçek Eşzamanlılık &amp; SSI</a:t>
            </a:r>
          </a:p>
        </p:txBody>
      </p:sp>
      <p:sp>
        <p:nvSpPr>
          <p:cNvPr id="12" name="TextBox 11"/>
          <p:cNvSpPr txBox="1"/>
          <p:nvPr/>
        </p:nvSpPr>
        <p:spPr>
          <a:xfrm>
            <a:off x="4572000" y="3977640"/>
            <a:ext cx="2788920" cy="2011680"/>
          </a:xfrm>
          <a:prstGeom prst="rect">
            <a:avLst/>
          </a:prstGeom>
          <a:noFill/>
        </p:spPr>
        <p:txBody>
          <a:bodyPr wrap="square">
            <a:spAutoFit/>
          </a:bodyPr>
          <a:lstStyle/>
          <a:p>
            <a:pPr>
              <a:spcAft>
                <a:spcPts val="600"/>
              </a:spcAft>
              <a:defRPr sz="1200">
                <a:solidFill>
                  <a:srgbClr val="E2E8F0"/>
                </a:solidFill>
              </a:defRPr>
            </a:pPr>
            <a:r>
              <a:t>• SQLite'taki ödünç alınmış doğruluğun tespiti</a:t>
            </a:r>
          </a:p>
          <a:p>
            <a:pPr>
              <a:spcAft>
                <a:spcPts val="600"/>
              </a:spcAft>
              <a:defRPr sz="1200">
                <a:solidFill>
                  <a:srgbClr val="E2E8F0"/>
                </a:solidFill>
              </a:defRPr>
            </a:pPr>
            <a:r>
              <a:t>• PostgreSQL çoklu yazıcıda write-skew kırılması</a:t>
            </a:r>
          </a:p>
          <a:p>
            <a:pPr>
              <a:spcAft>
                <a:spcPts val="600"/>
              </a:spcAft>
              <a:defRPr sz="1200">
                <a:solidFill>
                  <a:srgbClr val="E2E8F0"/>
                </a:solidFill>
              </a:defRPr>
            </a:pPr>
            <a:r>
              <a:t>• SERIALIZABLE izolasyon &amp; 40001 retry döngüsü</a:t>
            </a:r>
          </a:p>
          <a:p>
            <a:pPr>
              <a:spcAft>
                <a:spcPts val="600"/>
              </a:spcAft>
              <a:defRPr sz="1200">
                <a:solidFill>
                  <a:srgbClr val="E2E8F0"/>
                </a:solidFill>
              </a:defRPr>
            </a:pPr>
            <a:r>
              <a:t>• Jitter'lı geri çekilme (exponential backoff)</a:t>
            </a:r>
          </a:p>
        </p:txBody>
      </p:sp>
      <p:sp>
        <p:nvSpPr>
          <p:cNvPr id="13" name="Rounded Rectangle 12"/>
          <p:cNvSpPr/>
          <p:nvPr/>
        </p:nvSpPr>
        <p:spPr>
          <a:xfrm>
            <a:off x="7863840" y="3200400"/>
            <a:ext cx="3154680" cy="292608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0" y="3383280"/>
            <a:ext cx="2788920" cy="548640"/>
          </a:xfrm>
          <a:prstGeom prst="rect">
            <a:avLst/>
          </a:prstGeom>
          <a:noFill/>
        </p:spPr>
        <p:txBody>
          <a:bodyPr wrap="square">
            <a:spAutoFit/>
          </a:bodyPr>
          <a:lstStyle/>
          <a:p>
            <a:pPr>
              <a:defRPr sz="1500" b="1">
                <a:solidFill>
                  <a:srgbClr val="0EA5E9"/>
                </a:solidFill>
              </a:defRPr>
            </a:pPr>
            <a:r>
              <a:t>Açık Veri, SSE &amp; Final (ADR-008/010)</a:t>
            </a:r>
          </a:p>
        </p:txBody>
      </p:sp>
      <p:sp>
        <p:nvSpPr>
          <p:cNvPr id="15" name="TextBox 14"/>
          <p:cNvSpPr txBox="1"/>
          <p:nvPr/>
        </p:nvSpPr>
        <p:spPr>
          <a:xfrm>
            <a:off x="8046720" y="3977640"/>
            <a:ext cx="2788920" cy="2011680"/>
          </a:xfrm>
          <a:prstGeom prst="rect">
            <a:avLst/>
          </a:prstGeom>
          <a:noFill/>
        </p:spPr>
        <p:txBody>
          <a:bodyPr wrap="square">
            <a:spAutoFit/>
          </a:bodyPr>
          <a:lstStyle/>
          <a:p>
            <a:pPr>
              <a:spcAft>
                <a:spcPts val="600"/>
              </a:spcAft>
              <a:defRPr sz="1200">
                <a:solidFill>
                  <a:srgbClr val="E2E8F0"/>
                </a:solidFill>
              </a:defRPr>
            </a:pPr>
            <a:r>
              <a:t>• İBB raylı sistem ve İETT uçlarının entegrasyonu</a:t>
            </a:r>
          </a:p>
          <a:p>
            <a:pPr>
              <a:spcAft>
                <a:spcPts val="600"/>
              </a:spcAft>
              <a:defRPr sz="1200">
                <a:solidFill>
                  <a:srgbClr val="E2E8F0"/>
                </a:solidFill>
              </a:defRPr>
            </a:pPr>
            <a:r>
              <a:t>• SSE (Server-Sent Events) canlı grafik güncellemesi</a:t>
            </a:r>
          </a:p>
          <a:p>
            <a:pPr>
              <a:spcAft>
                <a:spcPts val="600"/>
              </a:spcAft>
              <a:defRPr sz="1200">
                <a:solidFill>
                  <a:srgbClr val="E2E8F0"/>
                </a:solidFill>
              </a:defRPr>
            </a:pPr>
            <a:r>
              <a:t>• DBeaver 9 adımlık canlı mentör sunumu</a:t>
            </a:r>
          </a:p>
          <a:p>
            <a:pPr>
              <a:spcAft>
                <a:spcPts val="600"/>
              </a:spcAft>
              <a:defRPr sz="1200">
                <a:solidFill>
                  <a:srgbClr val="E2E8F0"/>
                </a:solidFill>
              </a:defRPr>
            </a:pPr>
            <a:r>
              <a:t>• Feynman tekniği öğrenme kitabı tamamlanışı</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none">
            <a:spAutoFit/>
          </a:bodyPr>
          <a:lstStyle/>
          <a:p>
            <a:pPr>
              <a:defRPr sz="1100" b="1">
                <a:solidFill>
                  <a:srgbClr val="0369A1"/>
                </a:solidFill>
              </a:defRPr>
            </a:pPr>
            <a:r>
              <a:t>7. HAFTA (27 TEMMUZ 2026 - FINAL)  •  İŞ GÜNÜ DÖKÜMÜ</a:t>
            </a:r>
          </a:p>
        </p:txBody>
      </p:sp>
      <p:sp>
        <p:nvSpPr>
          <p:cNvPr id="4" name="TextBox 3"/>
          <p:cNvSpPr txBox="1"/>
          <p:nvPr/>
        </p:nvSpPr>
        <p:spPr>
          <a:xfrm>
            <a:off x="731520" y="685800"/>
            <a:ext cx="10515600" cy="731520"/>
          </a:xfrm>
          <a:prstGeom prst="rect">
            <a:avLst/>
          </a:prstGeom>
          <a:noFill/>
        </p:spPr>
        <p:txBody>
          <a:bodyPr wrap="none">
            <a:spAutoFit/>
          </a:bodyPr>
          <a:lstStyle/>
          <a:p>
            <a:pPr>
              <a:defRPr sz="2400" b="1">
                <a:solidFill>
                  <a:srgbClr val="0F172A"/>
                </a:solidFill>
              </a:defRPr>
            </a:pPr>
            <a:r>
              <a:t>Haftalık Gün Gün Kazanımlar ve Uygulama Detayları</a:t>
            </a:r>
          </a:p>
        </p:txBody>
      </p:sp>
      <p:sp>
        <p:nvSpPr>
          <p:cNvPr id="5" name="Rectangle 4"/>
          <p:cNvSpPr/>
          <p:nvPr/>
        </p:nvSpPr>
        <p:spPr>
          <a:xfrm>
            <a:off x="731520" y="14630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1999427" cy="46634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645920"/>
            <a:ext cx="1999427" cy="640080"/>
          </a:xfrm>
          <a:prstGeom prst="round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719072"/>
            <a:ext cx="1999427" cy="548640"/>
          </a:xfrm>
          <a:prstGeom prst="rect">
            <a:avLst/>
          </a:prstGeom>
          <a:noFill/>
        </p:spPr>
        <p:txBody>
          <a:bodyPr wrap="none">
            <a:spAutoFit/>
          </a:bodyPr>
          <a:lstStyle/>
          <a:p>
            <a:pPr algn="ctr">
              <a:defRPr sz="1200" b="1">
                <a:solidFill>
                  <a:srgbClr val="F8FAFC"/>
                </a:solidFill>
              </a:defRPr>
            </a:pPr>
            <a:r>
              <a:t>30. Gün (27/07)</a:t>
            </a:r>
          </a:p>
        </p:txBody>
      </p:sp>
      <p:sp>
        <p:nvSpPr>
          <p:cNvPr id="9" name="TextBox 8"/>
          <p:cNvSpPr txBox="1"/>
          <p:nvPr/>
        </p:nvSpPr>
        <p:spPr>
          <a:xfrm>
            <a:off x="841248" y="2331720"/>
            <a:ext cx="1779971" cy="640080"/>
          </a:xfrm>
          <a:prstGeom prst="rect">
            <a:avLst/>
          </a:prstGeom>
          <a:noFill/>
        </p:spPr>
        <p:txBody>
          <a:bodyPr wrap="square">
            <a:spAutoFit/>
          </a:bodyPr>
          <a:lstStyle/>
          <a:p>
            <a:pPr>
              <a:defRPr sz="1100" b="1">
                <a:solidFill>
                  <a:srgbClr val="0F172A"/>
                </a:solidFill>
              </a:defRPr>
            </a:pPr>
            <a:r>
              <a:t>Mekansal İşlerin DB'ye İndirilmesi</a:t>
            </a:r>
          </a:p>
        </p:txBody>
      </p:sp>
      <p:sp>
        <p:nvSpPr>
          <p:cNvPr id="10" name="TextBox 9"/>
          <p:cNvSpPr txBox="1"/>
          <p:nvPr/>
        </p:nvSpPr>
        <p:spPr>
          <a:xfrm>
            <a:off x="822960" y="3017520"/>
            <a:ext cx="1816547" cy="3200400"/>
          </a:xfrm>
          <a:prstGeom prst="rect">
            <a:avLst/>
          </a:prstGeom>
          <a:noFill/>
        </p:spPr>
        <p:txBody>
          <a:bodyPr wrap="square">
            <a:spAutoFit/>
          </a:bodyPr>
          <a:lstStyle/>
          <a:p>
            <a:pPr>
              <a:spcAft>
                <a:spcPts val="400"/>
              </a:spcAft>
              <a:defRPr sz="1000">
                <a:solidFill>
                  <a:srgbClr val="64748B"/>
                </a:solidFill>
              </a:defRPr>
            </a:pPr>
            <a:r>
              <a:t>• Veritabanı platformu PostgreSQL 16 ve PostGIS 3.4'e taşındı (ADR-009).</a:t>
            </a:r>
          </a:p>
          <a:p>
            <a:pPr>
              <a:spcAft>
                <a:spcPts val="400"/>
              </a:spcAft>
              <a:defRPr sz="1000">
                <a:solidFill>
                  <a:srgbClr val="64748B"/>
                </a:solidFill>
              </a:defRPr>
            </a:pPr>
            <a:r>
              <a:t>• JS tarafındaki ışın atma (ray casting) yerine veritabanında ST_Contains kullanıldı.</a:t>
            </a:r>
          </a:p>
          <a:p>
            <a:pPr>
              <a:spcAft>
                <a:spcPts val="400"/>
              </a:spcAft>
              <a:defRPr sz="1000">
                <a:solidFill>
                  <a:srgbClr val="64748B"/>
                </a:solidFill>
              </a:defRPr>
            </a:pPr>
            <a:r>
              <a:t>• Haversine yerine ST_Distance(geography), elle sıralama yerine GiST KNN (&lt;-&gt;) operatörü geldi.</a:t>
            </a:r>
          </a:p>
          <a:p>
            <a:pPr>
              <a:spcAft>
                <a:spcPts val="400"/>
              </a:spcAft>
              <a:defRPr sz="1000">
                <a:solidFill>
                  <a:srgbClr val="64748B"/>
                </a:solidFill>
              </a:defRPr>
            </a:pPr>
            <a:r>
              <a:t>• 3.7 MB GeoJSON dosyasının her açılışta belleğe okunması kalktı; geometri kolona dönüştü.</a:t>
            </a:r>
          </a:p>
        </p:txBody>
      </p:sp>
      <p:sp>
        <p:nvSpPr>
          <p:cNvPr id="11" name="Rounded Rectangle 10"/>
          <p:cNvSpPr/>
          <p:nvPr/>
        </p:nvSpPr>
        <p:spPr>
          <a:xfrm>
            <a:off x="2913827" y="1645920"/>
            <a:ext cx="1999427" cy="46634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913827" y="1645920"/>
            <a:ext cx="1999427" cy="640080"/>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13827" y="1719072"/>
            <a:ext cx="1999427" cy="548640"/>
          </a:xfrm>
          <a:prstGeom prst="rect">
            <a:avLst/>
          </a:prstGeom>
          <a:noFill/>
        </p:spPr>
        <p:txBody>
          <a:bodyPr wrap="none">
            <a:spAutoFit/>
          </a:bodyPr>
          <a:lstStyle/>
          <a:p>
            <a:pPr algn="ctr">
              <a:defRPr sz="1200" b="1">
                <a:solidFill>
                  <a:srgbClr val="F8FAFC"/>
                </a:solidFill>
              </a:defRPr>
            </a:pPr>
            <a:r>
              <a:t>30. Gün (27/07)</a:t>
            </a:r>
          </a:p>
        </p:txBody>
      </p:sp>
      <p:sp>
        <p:nvSpPr>
          <p:cNvPr id="14" name="TextBox 13"/>
          <p:cNvSpPr txBox="1"/>
          <p:nvPr/>
        </p:nvSpPr>
        <p:spPr>
          <a:xfrm>
            <a:off x="3023555" y="2331720"/>
            <a:ext cx="1779971" cy="640080"/>
          </a:xfrm>
          <a:prstGeom prst="rect">
            <a:avLst/>
          </a:prstGeom>
          <a:noFill/>
        </p:spPr>
        <p:txBody>
          <a:bodyPr wrap="square">
            <a:spAutoFit/>
          </a:bodyPr>
          <a:lstStyle/>
          <a:p>
            <a:pPr>
              <a:defRPr sz="1100" b="1">
                <a:solidFill>
                  <a:srgbClr val="0F172A"/>
                </a:solidFill>
              </a:defRPr>
            </a:pPr>
            <a:r>
              <a:t>Derece vs Metre Hatasının Çözümü</a:t>
            </a:r>
          </a:p>
        </p:txBody>
      </p:sp>
      <p:sp>
        <p:nvSpPr>
          <p:cNvPr id="15" name="TextBox 14"/>
          <p:cNvSpPr txBox="1"/>
          <p:nvPr/>
        </p:nvSpPr>
        <p:spPr>
          <a:xfrm>
            <a:off x="3005267" y="3017520"/>
            <a:ext cx="1816547" cy="3200400"/>
          </a:xfrm>
          <a:prstGeom prst="rect">
            <a:avLst/>
          </a:prstGeom>
          <a:noFill/>
        </p:spPr>
        <p:txBody>
          <a:bodyPr wrap="square">
            <a:spAutoFit/>
          </a:bodyPr>
          <a:lstStyle/>
          <a:p>
            <a:pPr>
              <a:spcAft>
                <a:spcPts val="400"/>
              </a:spcAft>
              <a:defRPr sz="1000">
                <a:solidFill>
                  <a:srgbClr val="64748B"/>
                </a:solidFill>
              </a:defRPr>
            </a:pPr>
            <a:r>
              <a:t>• 41°N enleminde boylam derecesi enlem derecesinden 1/4 kısa olduğundan derece hesabı çöktü.</a:t>
            </a:r>
          </a:p>
          <a:p>
            <a:pPr>
              <a:spcAft>
                <a:spcPts val="400"/>
              </a:spcAft>
              <a:defRPr sz="1000">
                <a:solidFill>
                  <a:srgbClr val="64748B"/>
                </a:solidFill>
              </a:defRPr>
            </a:pPr>
            <a:r>
              <a:t>• Cihangir (2302m) ve Haliç (2308m) tesisleri derece hesabında ters sıralandı.</a:t>
            </a:r>
          </a:p>
          <a:p>
            <a:pPr>
              <a:spcAft>
                <a:spcPts val="400"/>
              </a:spcAft>
              <a:defRPr sz="1000">
                <a:solidFill>
                  <a:srgbClr val="64748B"/>
                </a:solidFill>
              </a:defRPr>
            </a:pPr>
            <a:r>
              <a:t>• geometry yerine geography tipi ve jeodezik indeks eklenerek 6 metrelik sapma giderildi.</a:t>
            </a:r>
          </a:p>
          <a:p>
            <a:pPr>
              <a:spcAft>
                <a:spcPts val="400"/>
              </a:spcAft>
              <a:defRPr sz="1000">
                <a:solidFill>
                  <a:srgbClr val="64748B"/>
                </a:solidFill>
              </a:defRPr>
            </a:pPr>
            <a:r>
              <a:t>• Doğru kütüphaneyi kullanmanın yetmediği, fonksiyonun birimini bilmenin gerektiği kavrandı.</a:t>
            </a:r>
          </a:p>
        </p:txBody>
      </p:sp>
      <p:sp>
        <p:nvSpPr>
          <p:cNvPr id="16" name="Rounded Rectangle 15"/>
          <p:cNvSpPr/>
          <p:nvPr/>
        </p:nvSpPr>
        <p:spPr>
          <a:xfrm>
            <a:off x="5096134" y="1645920"/>
            <a:ext cx="1999427" cy="46634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096134" y="1645920"/>
            <a:ext cx="1999427" cy="640080"/>
          </a:xfrm>
          <a:prstGeom prst="round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96134" y="1719072"/>
            <a:ext cx="1999427" cy="548640"/>
          </a:xfrm>
          <a:prstGeom prst="rect">
            <a:avLst/>
          </a:prstGeom>
          <a:noFill/>
        </p:spPr>
        <p:txBody>
          <a:bodyPr wrap="none">
            <a:spAutoFit/>
          </a:bodyPr>
          <a:lstStyle/>
          <a:p>
            <a:pPr algn="ctr">
              <a:defRPr sz="1200" b="1">
                <a:solidFill>
                  <a:srgbClr val="F8FAFC"/>
                </a:solidFill>
              </a:defRPr>
            </a:pPr>
            <a:r>
              <a:t>30. Gün (27/07)</a:t>
            </a:r>
          </a:p>
        </p:txBody>
      </p:sp>
      <p:sp>
        <p:nvSpPr>
          <p:cNvPr id="19" name="TextBox 18"/>
          <p:cNvSpPr txBox="1"/>
          <p:nvPr/>
        </p:nvSpPr>
        <p:spPr>
          <a:xfrm>
            <a:off x="5205862" y="2331720"/>
            <a:ext cx="1779971" cy="640080"/>
          </a:xfrm>
          <a:prstGeom prst="rect">
            <a:avLst/>
          </a:prstGeom>
          <a:noFill/>
        </p:spPr>
        <p:txBody>
          <a:bodyPr wrap="square">
            <a:spAutoFit/>
          </a:bodyPr>
          <a:lstStyle/>
          <a:p>
            <a:pPr>
              <a:defRPr sz="1100" b="1">
                <a:solidFill>
                  <a:srgbClr val="0F172A"/>
                </a:solidFill>
              </a:defRPr>
            </a:pPr>
            <a:r>
              <a:t>Eşzamanlılık Korumasının Yeniden Kurulumu</a:t>
            </a:r>
          </a:p>
        </p:txBody>
      </p:sp>
      <p:sp>
        <p:nvSpPr>
          <p:cNvPr id="20" name="TextBox 19"/>
          <p:cNvSpPr txBox="1"/>
          <p:nvPr/>
        </p:nvSpPr>
        <p:spPr>
          <a:xfrm>
            <a:off x="5187574" y="3017520"/>
            <a:ext cx="1816547" cy="3200400"/>
          </a:xfrm>
          <a:prstGeom prst="rect">
            <a:avLst/>
          </a:prstGeom>
          <a:noFill/>
        </p:spPr>
        <p:txBody>
          <a:bodyPr wrap="square">
            <a:spAutoFit/>
          </a:bodyPr>
          <a:lstStyle/>
          <a:p>
            <a:pPr>
              <a:spcAft>
                <a:spcPts val="400"/>
              </a:spcAft>
              <a:defRPr sz="1000">
                <a:solidFill>
                  <a:srgbClr val="64748B"/>
                </a:solidFill>
              </a:defRPr>
            </a:pPr>
            <a:r>
              <a:t>• SQLite'ta rezervasyon güvenliği veritabanının tek yazıcılı olmasından geliyordu.</a:t>
            </a:r>
          </a:p>
          <a:p>
            <a:pPr>
              <a:spcAft>
                <a:spcPts val="400"/>
              </a:spcAft>
              <a:defRPr sz="1000">
                <a:solidFill>
                  <a:srgbClr val="64748B"/>
                </a:solidFill>
              </a:defRPr>
            </a:pPr>
            <a:r>
              <a:t>• PostgreSQL çok yazıcılı olduğundan varsayılan READ COMMITTED'da 40 isteğin 18-22'si sınırı aştı.</a:t>
            </a:r>
          </a:p>
          <a:p>
            <a:pPr>
              <a:spcAft>
                <a:spcPts val="400"/>
              </a:spcAft>
              <a:defRPr sz="1000">
                <a:solidFill>
                  <a:srgbClr val="64748B"/>
                </a:solidFill>
              </a:defRPr>
            </a:pPr>
            <a:r>
              <a:t>• SERIALIZABLE izolasyon seviyesi ve 40001 serialization failure retry eklendi (tam 10 oldu).</a:t>
            </a:r>
          </a:p>
          <a:p>
            <a:pPr>
              <a:spcAft>
                <a:spcPts val="400"/>
              </a:spcAft>
              <a:defRPr sz="1000">
                <a:solidFill>
                  <a:srgbClr val="64748B"/>
                </a:solidFill>
              </a:defRPr>
            </a:pPr>
            <a:r>
              <a:t>• Tesis satırını kilitleme yerine SSI seçildi: 'Korumayı çağıranın disiplinine değil sisteme bağla'.</a:t>
            </a:r>
          </a:p>
        </p:txBody>
      </p:sp>
      <p:sp>
        <p:nvSpPr>
          <p:cNvPr id="21" name="Rounded Rectangle 20"/>
          <p:cNvSpPr/>
          <p:nvPr/>
        </p:nvSpPr>
        <p:spPr>
          <a:xfrm>
            <a:off x="7278441" y="1645920"/>
            <a:ext cx="1999427" cy="46634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278441" y="1645920"/>
            <a:ext cx="1999427" cy="640080"/>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78441" y="1719072"/>
            <a:ext cx="1999427" cy="548640"/>
          </a:xfrm>
          <a:prstGeom prst="rect">
            <a:avLst/>
          </a:prstGeom>
          <a:noFill/>
        </p:spPr>
        <p:txBody>
          <a:bodyPr wrap="none">
            <a:spAutoFit/>
          </a:bodyPr>
          <a:lstStyle/>
          <a:p>
            <a:pPr algn="ctr">
              <a:defRPr sz="1200" b="1">
                <a:solidFill>
                  <a:srgbClr val="F8FAFC"/>
                </a:solidFill>
              </a:defRPr>
            </a:pPr>
            <a:r>
              <a:t>30. Gün (27/07)</a:t>
            </a:r>
          </a:p>
        </p:txBody>
      </p:sp>
      <p:sp>
        <p:nvSpPr>
          <p:cNvPr id="24" name="TextBox 23"/>
          <p:cNvSpPr txBox="1"/>
          <p:nvPr/>
        </p:nvSpPr>
        <p:spPr>
          <a:xfrm>
            <a:off x="7388169" y="2331720"/>
            <a:ext cx="1779971" cy="640080"/>
          </a:xfrm>
          <a:prstGeom prst="rect">
            <a:avLst/>
          </a:prstGeom>
          <a:noFill/>
        </p:spPr>
        <p:txBody>
          <a:bodyPr wrap="square">
            <a:spAutoFit/>
          </a:bodyPr>
          <a:lstStyle/>
          <a:p>
            <a:pPr>
              <a:defRPr sz="1100" b="1">
                <a:solidFill>
                  <a:srgbClr val="0F172A"/>
                </a:solidFill>
              </a:defRPr>
            </a:pPr>
            <a:r>
              <a:t>İBB Açık Veri &amp; Canlı SSE Akışı</a:t>
            </a:r>
          </a:p>
        </p:txBody>
      </p:sp>
      <p:sp>
        <p:nvSpPr>
          <p:cNvPr id="25" name="TextBox 24"/>
          <p:cNvSpPr txBox="1"/>
          <p:nvPr/>
        </p:nvSpPr>
        <p:spPr>
          <a:xfrm>
            <a:off x="7369881" y="3017520"/>
            <a:ext cx="1816547" cy="3200400"/>
          </a:xfrm>
          <a:prstGeom prst="rect">
            <a:avLst/>
          </a:prstGeom>
          <a:noFill/>
        </p:spPr>
        <p:txBody>
          <a:bodyPr wrap="square">
            <a:spAutoFit/>
          </a:bodyPr>
          <a:lstStyle/>
          <a:p>
            <a:pPr>
              <a:spcAft>
                <a:spcPts val="400"/>
              </a:spcAft>
              <a:defRPr sz="1000">
                <a:solidFill>
                  <a:srgbClr val="64748B"/>
                </a:solidFill>
              </a:defRPr>
            </a:pPr>
            <a:r>
              <a:t>• İBB raylı sistem ve İETT otobüs hat uçları entegre edildi (ADR-008).</a:t>
            </a:r>
          </a:p>
          <a:p>
            <a:pPr>
              <a:spcAft>
                <a:spcPts val="400"/>
              </a:spcAft>
              <a:defRPr sz="1000">
                <a:solidFill>
                  <a:srgbClr val="64748B"/>
                </a:solidFill>
              </a:defRPr>
            </a:pPr>
            <a:r>
              <a:t>• Metro hatlarının ray geometrisi değil durak noktası verdiği fark edilip 'yaklaşık' etiketlendi.</a:t>
            </a:r>
          </a:p>
          <a:p>
            <a:pPr>
              <a:spcAft>
                <a:spcPts val="400"/>
              </a:spcAft>
              <a:defRPr sz="1000">
                <a:solidFill>
                  <a:srgbClr val="64748B"/>
                </a:solidFill>
              </a:defRPr>
            </a:pPr>
            <a:r>
              <a:t>• Dashboard için yoklama (polling) yerine tek yönlü SSE (Server-Sent Events) katmanı kuruldu (ADR-010).</a:t>
            </a:r>
          </a:p>
          <a:p>
            <a:pPr>
              <a:spcAft>
                <a:spcPts val="400"/>
              </a:spcAft>
              <a:defRPr sz="1000">
                <a:solidFill>
                  <a:srgbClr val="64748B"/>
                </a:solidFill>
              </a:defRPr>
            </a:pPr>
            <a:r>
              <a:t>• Olay veri taşımaz, yalnız 'şu değişti' işareti gönderir; yetkilendirme tek yerde kalır.</a:t>
            </a:r>
          </a:p>
        </p:txBody>
      </p:sp>
      <p:sp>
        <p:nvSpPr>
          <p:cNvPr id="26" name="Rounded Rectangle 25"/>
          <p:cNvSpPr/>
          <p:nvPr/>
        </p:nvSpPr>
        <p:spPr>
          <a:xfrm>
            <a:off x="9460748" y="1645920"/>
            <a:ext cx="1999427" cy="46634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460748" y="1645920"/>
            <a:ext cx="1999427" cy="640080"/>
          </a:xfrm>
          <a:prstGeom prst="round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460748" y="1719072"/>
            <a:ext cx="1999427" cy="548640"/>
          </a:xfrm>
          <a:prstGeom prst="rect">
            <a:avLst/>
          </a:prstGeom>
          <a:noFill/>
        </p:spPr>
        <p:txBody>
          <a:bodyPr wrap="none">
            <a:spAutoFit/>
          </a:bodyPr>
          <a:lstStyle/>
          <a:p>
            <a:pPr algn="ctr">
              <a:defRPr sz="1200" b="1">
                <a:solidFill>
                  <a:srgbClr val="F8FAFC"/>
                </a:solidFill>
              </a:defRPr>
            </a:pPr>
            <a:r>
              <a:t>30. Gün (27/07)</a:t>
            </a:r>
          </a:p>
        </p:txBody>
      </p:sp>
      <p:sp>
        <p:nvSpPr>
          <p:cNvPr id="29" name="TextBox 28"/>
          <p:cNvSpPr txBox="1"/>
          <p:nvPr/>
        </p:nvSpPr>
        <p:spPr>
          <a:xfrm>
            <a:off x="9570476" y="2331720"/>
            <a:ext cx="1779971" cy="640080"/>
          </a:xfrm>
          <a:prstGeom prst="rect">
            <a:avLst/>
          </a:prstGeom>
          <a:noFill/>
        </p:spPr>
        <p:txBody>
          <a:bodyPr wrap="square">
            <a:spAutoFit/>
          </a:bodyPr>
          <a:lstStyle/>
          <a:p>
            <a:pPr>
              <a:defRPr sz="1100" b="1">
                <a:solidFill>
                  <a:srgbClr val="0F172A"/>
                </a:solidFill>
              </a:defRPr>
            </a:pPr>
            <a:r>
              <a:t>DBeaver Senaryosu &amp; Staj Final Sunumu</a:t>
            </a:r>
          </a:p>
        </p:txBody>
      </p:sp>
      <p:sp>
        <p:nvSpPr>
          <p:cNvPr id="30" name="TextBox 29"/>
          <p:cNvSpPr txBox="1"/>
          <p:nvPr/>
        </p:nvSpPr>
        <p:spPr>
          <a:xfrm>
            <a:off x="9552188" y="3017520"/>
            <a:ext cx="1816547" cy="3200400"/>
          </a:xfrm>
          <a:prstGeom prst="rect">
            <a:avLst/>
          </a:prstGeom>
          <a:noFill/>
        </p:spPr>
        <p:txBody>
          <a:bodyPr wrap="square">
            <a:spAutoFit/>
          </a:bodyPr>
          <a:lstStyle/>
          <a:p>
            <a:pPr>
              <a:spcAft>
                <a:spcPts val="400"/>
              </a:spcAft>
              <a:defRPr sz="1000">
                <a:solidFill>
                  <a:srgbClr val="64748B"/>
                </a:solidFill>
              </a:defRPr>
            </a:pPr>
            <a:r>
              <a:t>• Feynman öğrenme kitabı (12 bölüm + 16 teknoloji dosyası) tamamlandı.</a:t>
            </a:r>
          </a:p>
          <a:p>
            <a:pPr>
              <a:spcAft>
                <a:spcPts val="400"/>
              </a:spcAft>
              <a:defRPr sz="1000">
                <a:solidFill>
                  <a:srgbClr val="64748B"/>
                </a:solidFill>
              </a:defRPr>
            </a:pPr>
            <a:r>
              <a:t>• DBeaver üzerinden 9 adımlık canlı senaryo mentöre sunuldu.</a:t>
            </a:r>
          </a:p>
          <a:p>
            <a:pPr>
              <a:spcAft>
                <a:spcPts val="400"/>
              </a:spcAft>
              <a:defRPr sz="1000">
                <a:solidFill>
                  <a:srgbClr val="64748B"/>
                </a:solidFill>
              </a:defRPr>
            </a:pPr>
            <a:r>
              <a:t>• Eşzamanlılık deneyi ve izolasyon seviyesi farkı canlı izletildi.</a:t>
            </a:r>
          </a:p>
          <a:p>
            <a:pPr>
              <a:spcAft>
                <a:spcPts val="400"/>
              </a:spcAft>
              <a:defRPr sz="1000">
                <a:solidFill>
                  <a:srgbClr val="64748B"/>
                </a:solidFill>
              </a:defRPr>
            </a:pPr>
            <a:r>
              <a:t>• Bir iddianın ölçülmeden doğru sayılmaması ilkesiyle staj başarıyla tamamlandı.</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none">
            <a:spAutoFit/>
          </a:bodyPr>
          <a:lstStyle/>
          <a:p>
            <a:pPr>
              <a:defRPr sz="1100" b="1">
                <a:solidFill>
                  <a:srgbClr val="0369A1"/>
                </a:solidFill>
              </a:defRPr>
            </a:pPr>
            <a:r>
              <a:t>7. HAFTA (27 TEMMUZ 2026 - FINAL)  •  TEKNIK MIMARI &amp; İNCELEME</a:t>
            </a:r>
          </a:p>
        </p:txBody>
      </p:sp>
      <p:sp>
        <p:nvSpPr>
          <p:cNvPr id="4" name="TextBox 3"/>
          <p:cNvSpPr txBox="1"/>
          <p:nvPr/>
        </p:nvSpPr>
        <p:spPr>
          <a:xfrm>
            <a:off x="731520" y="685800"/>
            <a:ext cx="10515600" cy="731520"/>
          </a:xfrm>
          <a:prstGeom prst="rect">
            <a:avLst/>
          </a:prstGeom>
          <a:noFill/>
        </p:spPr>
        <p:txBody>
          <a:bodyPr wrap="none">
            <a:spAutoFit/>
          </a:bodyPr>
          <a:lstStyle/>
          <a:p>
            <a:pPr>
              <a:defRPr sz="2400" b="1">
                <a:solidFill>
                  <a:srgbClr val="0F172A"/>
                </a:solidFill>
              </a:defRPr>
            </a:pPr>
            <a:r>
              <a:t>Mimari Dönüşüm: PostGIS Geodezik İndeks ve SERIALIZABLE SSI</a:t>
            </a:r>
          </a:p>
        </p:txBody>
      </p:sp>
      <p:sp>
        <p:nvSpPr>
          <p:cNvPr id="5" name="Rectangle 4"/>
          <p:cNvSpPr/>
          <p:nvPr/>
        </p:nvSpPr>
        <p:spPr>
          <a:xfrm>
            <a:off x="731520" y="14630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5212080" cy="34747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4846320" cy="548640"/>
          </a:xfrm>
          <a:prstGeom prst="rect">
            <a:avLst/>
          </a:prstGeom>
          <a:noFill/>
        </p:spPr>
        <p:txBody>
          <a:bodyPr wrap="none">
            <a:spAutoFit/>
          </a:bodyPr>
          <a:lstStyle/>
          <a:p>
            <a:pPr>
              <a:defRPr sz="1600" b="1">
                <a:solidFill>
                  <a:srgbClr val="0369A1"/>
                </a:solidFill>
              </a:defRPr>
            </a:pPr>
            <a:r>
              <a:t>PostGIS Geodezik Mesafe (Derece vs Metre)</a:t>
            </a:r>
          </a:p>
        </p:txBody>
      </p:sp>
      <p:sp>
        <p:nvSpPr>
          <p:cNvPr id="8" name="TextBox 7"/>
          <p:cNvSpPr txBox="1"/>
          <p:nvPr/>
        </p:nvSpPr>
        <p:spPr>
          <a:xfrm>
            <a:off x="914400" y="2423160"/>
            <a:ext cx="4846320" cy="2560320"/>
          </a:xfrm>
          <a:prstGeom prst="rect">
            <a:avLst/>
          </a:prstGeom>
          <a:noFill/>
        </p:spPr>
        <p:txBody>
          <a:bodyPr wrap="square">
            <a:spAutoFit/>
          </a:bodyPr>
          <a:lstStyle/>
          <a:p>
            <a:pPr>
              <a:spcAft>
                <a:spcPts val="600"/>
              </a:spcAft>
              <a:defRPr sz="1200">
                <a:solidFill>
                  <a:srgbClr val="0F172A"/>
                </a:solidFill>
              </a:defRPr>
            </a:pPr>
            <a:r>
              <a:t>• Hata Tespiti: Taksim'e en yakın tesisler sıralanırken Cihangir (2302m) tesisinin Haliç (2308m) tesisinin ardından listelendiği görüldü.</a:t>
            </a:r>
          </a:p>
          <a:p>
            <a:pPr>
              <a:spcAft>
                <a:spcPts val="600"/>
              </a:spcAft>
              <a:defRPr sz="1200">
                <a:solidFill>
                  <a:srgbClr val="0F172A"/>
                </a:solidFill>
              </a:defRPr>
            </a:pPr>
            <a:r>
              <a:t>• Sebep (41° Kuzey Enlemi): Kutuplara doğru boylamlar daralır. İstanbul'da 1° boylam ~84 km iken 1° enlem ~111 km'dir. Düzlemde Pisagor derece mesafesi eksenleri eşit saydığı için sıralamayı bozdu.</a:t>
            </a:r>
          </a:p>
          <a:p>
            <a:pPr>
              <a:spcAft>
                <a:spcPts val="600"/>
              </a:spcAft>
              <a:defRPr sz="1200">
                <a:solidFill>
                  <a:srgbClr val="0F172A"/>
                </a:solidFill>
              </a:defRPr>
            </a:pPr>
            <a:r>
              <a:t>• Çözüm: ST_Distance(geom::geography) ve jeodezik KNN indeksi devreye alındı. Sıralama metre bazında hatasız hale getirildi.</a:t>
            </a:r>
          </a:p>
          <a:p>
            <a:pPr>
              <a:spcAft>
                <a:spcPts val="600"/>
              </a:spcAft>
              <a:defRPr sz="1200">
                <a:solidFill>
                  <a:srgbClr val="0F172A"/>
                </a:solidFill>
              </a:defRPr>
            </a:pPr>
            <a:r>
              <a:t>• Veritabanında CBS: Ray-casting fonksiyonu silindi; nokta-ilçe eşleşmesi veritabanında 'ST_Contains(d.geom, f.geom)' sorgusuna bağlandı.</a:t>
            </a:r>
          </a:p>
        </p:txBody>
      </p:sp>
      <p:sp>
        <p:nvSpPr>
          <p:cNvPr id="9" name="Rounded Rectangle 8"/>
          <p:cNvSpPr/>
          <p:nvPr/>
        </p:nvSpPr>
        <p:spPr>
          <a:xfrm>
            <a:off x="6217920" y="1645920"/>
            <a:ext cx="5212080" cy="34747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828800"/>
            <a:ext cx="4846320" cy="548640"/>
          </a:xfrm>
          <a:prstGeom prst="rect">
            <a:avLst/>
          </a:prstGeom>
          <a:noFill/>
        </p:spPr>
        <p:txBody>
          <a:bodyPr wrap="none">
            <a:spAutoFit/>
          </a:bodyPr>
          <a:lstStyle/>
          <a:p>
            <a:pPr>
              <a:defRPr sz="1600" b="1">
                <a:solidFill>
                  <a:srgbClr val="6366F1"/>
                </a:solidFill>
              </a:defRPr>
            </a:pPr>
            <a:r>
              <a:t>Ödünç Alınmış Eşzamanlılık ve SSI Çözümü</a:t>
            </a:r>
          </a:p>
        </p:txBody>
      </p:sp>
      <p:sp>
        <p:nvSpPr>
          <p:cNvPr id="11" name="TextBox 10"/>
          <p:cNvSpPr txBox="1"/>
          <p:nvPr/>
        </p:nvSpPr>
        <p:spPr>
          <a:xfrm>
            <a:off x="6400800" y="2423160"/>
            <a:ext cx="4846320" cy="2560320"/>
          </a:xfrm>
          <a:prstGeom prst="rect">
            <a:avLst/>
          </a:prstGeom>
          <a:noFill/>
        </p:spPr>
        <p:txBody>
          <a:bodyPr wrap="square">
            <a:spAutoFit/>
          </a:bodyPr>
          <a:lstStyle/>
          <a:p>
            <a:pPr>
              <a:spcAft>
                <a:spcPts val="600"/>
              </a:spcAft>
              <a:defRPr sz="1200">
                <a:solidFill>
                  <a:srgbClr val="0F172A"/>
                </a:solidFill>
              </a:defRPr>
            </a:pPr>
            <a:r>
              <a:t>• Büyük İtiraf: SQLite tek yazıcılı olduğu için rezervasyon akışı tesadüfen güvendeydi. Koruma benim kodumdan değil, SQLite'ın tek yazıcı kısıtından geliyordu.</a:t>
            </a:r>
          </a:p>
          <a:p>
            <a:pPr>
              <a:spcAft>
                <a:spcPts val="600"/>
              </a:spcAft>
              <a:defRPr sz="1200">
                <a:solidFill>
                  <a:srgbClr val="0F172A"/>
                </a:solidFill>
              </a:defRPr>
            </a:pPr>
            <a:r>
              <a:t>• PostgreSQL Şoku: PostgreSQL çok yazıcılıdır. Düşük izolasyonda 40 eşzamanlı istekten 18 ila 22 rezervasyon içeri sızarak kapasiteyi deldi.</a:t>
            </a:r>
          </a:p>
          <a:p>
            <a:pPr>
              <a:spcAft>
                <a:spcPts val="600"/>
              </a:spcAft>
              <a:defRPr sz="1200">
                <a:solidFill>
                  <a:srgbClr val="0F172A"/>
                </a:solidFill>
              </a:defRPr>
            </a:pPr>
            <a:r>
              <a:t>• SSI &amp; Retry: SERIALIZABLE seviyesine geçildi. 40001 serialization failure hatası alındığında rastgele gecikmeli (jitter) yeniden deneme eklendi. Sonuç tam 10'da sabitlendi.</a:t>
            </a:r>
          </a:p>
          <a:p>
            <a:pPr>
              <a:spcAft>
                <a:spcPts val="600"/>
              </a:spcAft>
              <a:defRPr sz="1200">
                <a:solidFill>
                  <a:srgbClr val="0F172A"/>
                </a:solidFill>
              </a:defRPr>
            </a:pPr>
            <a:r>
              <a:t>• Reddedilen Alternatif: SELECT FOR UPDATE ile tesis satırını kilitlemek daha ucuzdu ama ileride bir sorgunun kilidi almayı unutma riskine karşı reddedildi.</a:t>
            </a:r>
          </a:p>
        </p:txBody>
      </p:sp>
      <p:sp>
        <p:nvSpPr>
          <p:cNvPr id="12" name="Rounded Rectangle 11"/>
          <p:cNvSpPr/>
          <p:nvPr/>
        </p:nvSpPr>
        <p:spPr>
          <a:xfrm>
            <a:off x="731520" y="5303520"/>
            <a:ext cx="10728655" cy="1097280"/>
          </a:xfrm>
          <a:prstGeom prst="roundRect">
            <a:avLst/>
          </a:prstGeom>
          <a:solidFill>
            <a:srgbClr val="F1F5F9"/>
          </a:solidFill>
          <a:ln>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5413248"/>
            <a:ext cx="10362895" cy="320040"/>
          </a:xfrm>
          <a:prstGeom prst="rect">
            <a:avLst/>
          </a:prstGeom>
          <a:noFill/>
        </p:spPr>
        <p:txBody>
          <a:bodyPr wrap="none">
            <a:spAutoFit/>
          </a:bodyPr>
          <a:lstStyle/>
          <a:p>
            <a:pPr>
              <a:defRPr sz="1200" b="1">
                <a:solidFill>
                  <a:srgbClr val="0369A1"/>
                </a:solidFill>
              </a:defRPr>
            </a:pPr>
            <a:r>
              <a:t>💡 Mentör Savunma &amp; Jüri Notu (APoSD &amp; DDIA Yaklaşımı)</a:t>
            </a:r>
          </a:p>
        </p:txBody>
      </p:sp>
      <p:sp>
        <p:nvSpPr>
          <p:cNvPr id="14" name="TextBox 13"/>
          <p:cNvSpPr txBox="1"/>
          <p:nvPr/>
        </p:nvSpPr>
        <p:spPr>
          <a:xfrm>
            <a:off x="914400" y="5715000"/>
            <a:ext cx="10362895" cy="594360"/>
          </a:xfrm>
          <a:prstGeom prst="rect">
            <a:avLst/>
          </a:prstGeom>
          <a:noFill/>
        </p:spPr>
        <p:txBody>
          <a:bodyPr wrap="square">
            <a:spAutoFit/>
          </a:bodyPr>
          <a:lstStyle/>
          <a:p>
            <a:pPr>
              <a:defRPr sz="1100">
                <a:solidFill>
                  <a:srgbClr val="0F172A"/>
                </a:solidFill>
              </a:defRPr>
            </a:pPr>
            <a:r>
              <a:t>Doğru çalışan bir kod, doğru tasarlanmış anlamına gelmez. Doğruluğunu veritabanı kısıtından ödünç alan naif kod, PostgreSQL'e geçince gerçek SERIALIZABLE ihtiyacını ortaya çıkardı. Sistemin iddiasını ölçerek ispatlamak bu stajın en kalıcı mühendislik kazanımı oldu.</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none">
            <a:spAutoFit/>
          </a:bodyPr>
          <a:lstStyle/>
          <a:p>
            <a:pPr>
              <a:defRPr sz="1100" b="1">
                <a:solidFill>
                  <a:srgbClr val="0369A1"/>
                </a:solidFill>
              </a:defRPr>
            </a:pPr>
            <a:r>
              <a:t>7. HAFTA (27 TEMMUZ 2026 - FINAL)  •  KAZANIMLAR &amp; SAVUNMA</a:t>
            </a:r>
          </a:p>
        </p:txBody>
      </p:sp>
      <p:sp>
        <p:nvSpPr>
          <p:cNvPr id="4" name="TextBox 3"/>
          <p:cNvSpPr txBox="1"/>
          <p:nvPr/>
        </p:nvSpPr>
        <p:spPr>
          <a:xfrm>
            <a:off x="731520" y="685800"/>
            <a:ext cx="10515600" cy="731520"/>
          </a:xfrm>
          <a:prstGeom prst="rect">
            <a:avLst/>
          </a:prstGeom>
          <a:noFill/>
        </p:spPr>
        <p:txBody>
          <a:bodyPr wrap="none">
            <a:spAutoFit/>
          </a:bodyPr>
          <a:lstStyle/>
          <a:p>
            <a:pPr>
              <a:defRPr sz="2400" b="1">
                <a:solidFill>
                  <a:srgbClr val="0F172A"/>
                </a:solidFill>
              </a:defRPr>
            </a:pPr>
            <a:r>
              <a:t>Haftanın Mühendislik Çıkarımları ve Karar Özeti</a:t>
            </a:r>
          </a:p>
        </p:txBody>
      </p:sp>
      <p:sp>
        <p:nvSpPr>
          <p:cNvPr id="5" name="Rectangle 4"/>
          <p:cNvSpPr/>
          <p:nvPr/>
        </p:nvSpPr>
        <p:spPr>
          <a:xfrm>
            <a:off x="731520" y="14630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3364992" cy="3291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14400" y="1828800"/>
            <a:ext cx="73152" cy="45720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783080"/>
            <a:ext cx="2907792" cy="548640"/>
          </a:xfrm>
          <a:prstGeom prst="rect">
            <a:avLst/>
          </a:prstGeom>
          <a:noFill/>
        </p:spPr>
        <p:txBody>
          <a:bodyPr wrap="none">
            <a:spAutoFit/>
          </a:bodyPr>
          <a:lstStyle/>
          <a:p>
            <a:pPr>
              <a:defRPr sz="1500" b="1">
                <a:solidFill>
                  <a:srgbClr val="0F172A"/>
                </a:solidFill>
              </a:defRPr>
            </a:pPr>
            <a:r>
              <a:t>PostGIS GiST İndeksi</a:t>
            </a:r>
          </a:p>
        </p:txBody>
      </p:sp>
      <p:sp>
        <p:nvSpPr>
          <p:cNvPr id="9" name="TextBox 8"/>
          <p:cNvSpPr txBox="1"/>
          <p:nvPr/>
        </p:nvSpPr>
        <p:spPr>
          <a:xfrm>
            <a:off x="914400" y="2423160"/>
            <a:ext cx="2999232" cy="2377440"/>
          </a:xfrm>
          <a:prstGeom prst="rect">
            <a:avLst/>
          </a:prstGeom>
          <a:noFill/>
        </p:spPr>
        <p:txBody>
          <a:bodyPr wrap="square">
            <a:spAutoFit/>
          </a:bodyPr>
          <a:lstStyle/>
          <a:p>
            <a:pPr>
              <a:spcAft>
                <a:spcPts val="500"/>
              </a:spcAft>
              <a:defRPr sz="1100">
                <a:solidFill>
                  <a:srgbClr val="64748B"/>
                </a:solidFill>
              </a:defRPr>
            </a:pPr>
            <a:r>
              <a:t>• Mekansal işlemler veritabanı seviyesine indirilince 3.7 MB dosya okuma yükü kalktı.</a:t>
            </a:r>
          </a:p>
          <a:p>
            <a:pPr>
              <a:spcAft>
                <a:spcPts val="500"/>
              </a:spcAft>
              <a:defRPr sz="1100">
                <a:solidFill>
                  <a:srgbClr val="64748B"/>
                </a:solidFill>
              </a:defRPr>
            </a:pPr>
            <a:r>
              <a:t>• GiST indeksi ile KNN araması O(log N) mertebesine çekildi.</a:t>
            </a:r>
          </a:p>
          <a:p>
            <a:pPr>
              <a:spcAft>
                <a:spcPts val="500"/>
              </a:spcAft>
              <a:defRPr sz="1100">
                <a:solidFill>
                  <a:srgbClr val="64748B"/>
                </a:solidFill>
              </a:defRPr>
            </a:pPr>
            <a:r>
              <a:t>• Derece ile metre arasındaki farkın coğrafi projeksiyondan geldiği kavrandı.</a:t>
            </a:r>
          </a:p>
        </p:txBody>
      </p:sp>
      <p:sp>
        <p:nvSpPr>
          <p:cNvPr id="10" name="Rounded Rectangle 9"/>
          <p:cNvSpPr/>
          <p:nvPr/>
        </p:nvSpPr>
        <p:spPr>
          <a:xfrm>
            <a:off x="4407408" y="1645920"/>
            <a:ext cx="3364992" cy="3291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90288" y="1828800"/>
            <a:ext cx="73152" cy="45720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27448" y="1783080"/>
            <a:ext cx="2907792" cy="548640"/>
          </a:xfrm>
          <a:prstGeom prst="rect">
            <a:avLst/>
          </a:prstGeom>
          <a:noFill/>
        </p:spPr>
        <p:txBody>
          <a:bodyPr wrap="none">
            <a:spAutoFit/>
          </a:bodyPr>
          <a:lstStyle/>
          <a:p>
            <a:pPr>
              <a:defRPr sz="1500" b="1">
                <a:solidFill>
                  <a:srgbClr val="0F172A"/>
                </a:solidFill>
              </a:defRPr>
            </a:pPr>
            <a:r>
              <a:t>SERIALIZABLE &amp; SSI</a:t>
            </a:r>
          </a:p>
        </p:txBody>
      </p:sp>
      <p:sp>
        <p:nvSpPr>
          <p:cNvPr id="13" name="TextBox 12"/>
          <p:cNvSpPr txBox="1"/>
          <p:nvPr/>
        </p:nvSpPr>
        <p:spPr>
          <a:xfrm>
            <a:off x="4590288" y="2423160"/>
            <a:ext cx="2999232" cy="2377440"/>
          </a:xfrm>
          <a:prstGeom prst="rect">
            <a:avLst/>
          </a:prstGeom>
          <a:noFill/>
        </p:spPr>
        <p:txBody>
          <a:bodyPr wrap="square">
            <a:spAutoFit/>
          </a:bodyPr>
          <a:lstStyle/>
          <a:p>
            <a:pPr>
              <a:spcAft>
                <a:spcPts val="500"/>
              </a:spcAft>
              <a:defRPr sz="1100">
                <a:solidFill>
                  <a:srgbClr val="64748B"/>
                </a:solidFill>
              </a:defRPr>
            </a:pPr>
            <a:r>
              <a:t>• Çok yazıcılı sistemlerde write-skew ve phantom read riskleri SSI ile kapatıldı.</a:t>
            </a:r>
          </a:p>
          <a:p>
            <a:pPr>
              <a:spcAft>
                <a:spcPts val="500"/>
              </a:spcAft>
              <a:defRPr sz="1100">
                <a:solidFill>
                  <a:srgbClr val="64748B"/>
                </a:solidFill>
              </a:defRPr>
            </a:pPr>
            <a:r>
              <a:t>• Serialization failure (40001) hatasında jitter'lı retry uygulandı.</a:t>
            </a:r>
          </a:p>
          <a:p>
            <a:pPr>
              <a:spcAft>
                <a:spcPts val="500"/>
              </a:spcAft>
              <a:defRPr sz="1100">
                <a:solidFill>
                  <a:srgbClr val="64748B"/>
                </a:solidFill>
              </a:defRPr>
            </a:pPr>
            <a:r>
              <a:t>• Korumayı yazılımcının disiplinine değil, veritabanı motoruna bağlama ilkesi benimsendi.</a:t>
            </a:r>
          </a:p>
        </p:txBody>
      </p:sp>
      <p:sp>
        <p:nvSpPr>
          <p:cNvPr id="14" name="Rounded Rectangle 13"/>
          <p:cNvSpPr/>
          <p:nvPr/>
        </p:nvSpPr>
        <p:spPr>
          <a:xfrm>
            <a:off x="8083296" y="1645920"/>
            <a:ext cx="3364992" cy="3291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66176" y="1828800"/>
            <a:ext cx="73152" cy="4572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03336" y="1783080"/>
            <a:ext cx="2907792" cy="548640"/>
          </a:xfrm>
          <a:prstGeom prst="rect">
            <a:avLst/>
          </a:prstGeom>
          <a:noFill/>
        </p:spPr>
        <p:txBody>
          <a:bodyPr wrap="none">
            <a:spAutoFit/>
          </a:bodyPr>
          <a:lstStyle/>
          <a:p>
            <a:pPr>
              <a:defRPr sz="1500" b="1">
                <a:solidFill>
                  <a:srgbClr val="0F172A"/>
                </a:solidFill>
              </a:defRPr>
            </a:pPr>
            <a:r>
              <a:t>SSE Canlı Olay Akışı</a:t>
            </a:r>
          </a:p>
        </p:txBody>
      </p:sp>
      <p:sp>
        <p:nvSpPr>
          <p:cNvPr id="17" name="TextBox 16"/>
          <p:cNvSpPr txBox="1"/>
          <p:nvPr/>
        </p:nvSpPr>
        <p:spPr>
          <a:xfrm>
            <a:off x="8266176" y="2423160"/>
            <a:ext cx="2999232" cy="2377440"/>
          </a:xfrm>
          <a:prstGeom prst="rect">
            <a:avLst/>
          </a:prstGeom>
          <a:noFill/>
        </p:spPr>
        <p:txBody>
          <a:bodyPr wrap="square">
            <a:spAutoFit/>
          </a:bodyPr>
          <a:lstStyle/>
          <a:p>
            <a:pPr>
              <a:spcAft>
                <a:spcPts val="500"/>
              </a:spcAft>
              <a:defRPr sz="1100">
                <a:solidFill>
                  <a:srgbClr val="64748B"/>
                </a:solidFill>
              </a:defRPr>
            </a:pPr>
            <a:r>
              <a:t>• Yoklama (polling) gereksiz sorgu yükü yaratır; WebSocket ise çift yönlü bağımlılık getirir.</a:t>
            </a:r>
          </a:p>
          <a:p>
            <a:pPr>
              <a:spcAft>
                <a:spcPts val="500"/>
              </a:spcAft>
              <a:defRPr sz="1100">
                <a:solidFill>
                  <a:srgbClr val="64748B"/>
                </a:solidFill>
              </a:defRPr>
            </a:pPr>
            <a:r>
              <a:t>• Tek yönlü Server-Sent Events (SSE) seçildi; olay veri taşımaz, yalnız bildirim yapar.</a:t>
            </a:r>
          </a:p>
          <a:p>
            <a:pPr>
              <a:spcAft>
                <a:spcPts val="500"/>
              </a:spcAft>
              <a:defRPr sz="1100">
                <a:solidFill>
                  <a:srgbClr val="64748B"/>
                </a:solidFill>
              </a:defRPr>
            </a:pPr>
            <a:r>
              <a:t>• Yetkilendirme ve veri çekme tek noktada tutuldu.</a:t>
            </a:r>
          </a:p>
        </p:txBody>
      </p:sp>
      <p:sp>
        <p:nvSpPr>
          <p:cNvPr id="18" name="Rounded Rectangle 17"/>
          <p:cNvSpPr/>
          <p:nvPr/>
        </p:nvSpPr>
        <p:spPr>
          <a:xfrm>
            <a:off x="731520" y="5212080"/>
            <a:ext cx="10728655" cy="118872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5349240"/>
            <a:ext cx="10180015" cy="914400"/>
          </a:xfrm>
          <a:prstGeom prst="rect">
            <a:avLst/>
          </a:prstGeom>
          <a:noFill/>
        </p:spPr>
        <p:txBody>
          <a:bodyPr wrap="square">
            <a:spAutoFit/>
          </a:bodyPr>
          <a:lstStyle/>
          <a:p>
            <a:pPr>
              <a:defRPr sz="1300" i="1">
                <a:solidFill>
                  <a:srgbClr val="E0F2FE"/>
                </a:solidFill>
              </a:defRPr>
            </a:pPr>
            <a:r>
              <a:t>"Stajın bana kattığı en kalıcı şey belirli bir teknoloji değil; bir iddiayı ölçmeden doğru saymama, karmaşıklığı saklamayıp öne çıkarma ve hatayı tasarımla yok etme alışkanlığı oldu."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