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37160" cy="1645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685800"/>
            <a:ext cx="7315200" cy="365760"/>
          </a:xfrm>
          <a:prstGeom prst="rect">
            <a:avLst/>
          </a:prstGeom>
          <a:noFill/>
        </p:spPr>
        <p:txBody>
          <a:bodyPr wrap="none">
            <a:spAutoFit/>
          </a:bodyPr>
          <a:lstStyle/>
          <a:p>
            <a:pPr>
              <a:defRPr sz="1200" b="1">
                <a:solidFill>
                  <a:srgbClr val="0EA5E9"/>
                </a:solidFill>
              </a:defRPr>
            </a:pPr>
            <a:r>
              <a:t>NETCAD YAZILIM A.Ş. | TEKNOLOJİ ÇÖZÜMLERİ DEPARTMANI — 2. HAFTA</a:t>
            </a:r>
          </a:p>
        </p:txBody>
      </p:sp>
      <p:sp>
        <p:nvSpPr>
          <p:cNvPr id="5" name="TextBox 4"/>
          <p:cNvSpPr txBox="1"/>
          <p:nvPr/>
        </p:nvSpPr>
        <p:spPr>
          <a:xfrm>
            <a:off x="1188720" y="1051560"/>
            <a:ext cx="9601200" cy="1188720"/>
          </a:xfrm>
          <a:prstGeom prst="rect">
            <a:avLst/>
          </a:prstGeom>
          <a:noFill/>
        </p:spPr>
        <p:txBody>
          <a:bodyPr wrap="square">
            <a:spAutoFit/>
          </a:bodyPr>
          <a:lstStyle/>
          <a:p>
            <a:pPr>
              <a:defRPr sz="3200" b="1">
                <a:solidFill>
                  <a:srgbClr val="F8FAFC"/>
                </a:solidFill>
              </a:defRPr>
            </a:pPr>
            <a:r>
              <a:t>Web GIS, Çok Kriterli Karar Modeli &amp; Katmanlı Mimari</a:t>
            </a:r>
          </a:p>
        </p:txBody>
      </p:sp>
      <p:sp>
        <p:nvSpPr>
          <p:cNvPr id="6" name="TextBox 5"/>
          <p:cNvSpPr txBox="1"/>
          <p:nvPr/>
        </p:nvSpPr>
        <p:spPr>
          <a:xfrm>
            <a:off x="1188720" y="2286000"/>
            <a:ext cx="9601200" cy="548640"/>
          </a:xfrm>
          <a:prstGeom prst="rect">
            <a:avLst/>
          </a:prstGeom>
          <a:noFill/>
        </p:spPr>
        <p:txBody>
          <a:bodyPr wrap="none">
            <a:spAutoFit/>
          </a:bodyPr>
          <a:lstStyle/>
          <a:p>
            <a:pPr>
              <a:defRPr sz="1600">
                <a:solidFill>
                  <a:srgbClr val="64748B"/>
                </a:solidFill>
              </a:defRPr>
            </a:pPr>
            <a:r>
              <a:t>🗓️ 22 – 26 Haziran 2026   |   Leaflet.js, JS Ray-Casting, TOPSIS (MatrixEngine) &amp; Python İkizi (APoSD)</a:t>
            </a:r>
          </a:p>
        </p:txBody>
      </p:sp>
      <p:sp>
        <p:nvSpPr>
          <p:cNvPr id="7" name="Rounded Rectangle 6"/>
          <p:cNvSpPr/>
          <p:nvPr/>
        </p:nvSpPr>
        <p:spPr>
          <a:xfrm>
            <a:off x="91440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383280"/>
            <a:ext cx="2788920" cy="548640"/>
          </a:xfrm>
          <a:prstGeom prst="rect">
            <a:avLst/>
          </a:prstGeom>
          <a:noFill/>
        </p:spPr>
        <p:txBody>
          <a:bodyPr wrap="square">
            <a:spAutoFit/>
          </a:bodyPr>
          <a:lstStyle/>
          <a:p>
            <a:pPr>
              <a:defRPr sz="1500" b="1">
                <a:solidFill>
                  <a:srgbClr val="0EA5E9"/>
                </a:solidFill>
              </a:defRPr>
            </a:pPr>
            <a:r>
              <a:t>İstemci Tarafı Harita &amp; Algoritma</a:t>
            </a:r>
          </a:p>
        </p:txBody>
      </p:sp>
      <p:sp>
        <p:nvSpPr>
          <p:cNvPr id="9" name="TextBox 8"/>
          <p:cNvSpPr txBox="1"/>
          <p:nvPr/>
        </p:nvSpPr>
        <p:spPr>
          <a:xfrm>
            <a:off x="1097280" y="3977640"/>
            <a:ext cx="2788920" cy="2011680"/>
          </a:xfrm>
          <a:prstGeom prst="rect">
            <a:avLst/>
          </a:prstGeom>
          <a:noFill/>
        </p:spPr>
        <p:txBody>
          <a:bodyPr wrap="square">
            <a:spAutoFit/>
          </a:bodyPr>
          <a:lstStyle/>
          <a:p>
            <a:pPr>
              <a:spcAft>
                <a:spcPts val="600"/>
              </a:spcAft>
              <a:defRPr sz="1200">
                <a:solidFill>
                  <a:srgbClr val="E2E8F0"/>
                </a:solidFill>
              </a:defRPr>
            </a:pPr>
            <a:r>
              <a:t>• Leaflet.js İstanbul harita katmanları</a:t>
            </a:r>
          </a:p>
          <a:p>
            <a:pPr>
              <a:spcAft>
                <a:spcPts val="600"/>
              </a:spcAft>
              <a:defRPr sz="1200">
                <a:solidFill>
                  <a:srgbClr val="E2E8F0"/>
                </a:solidFill>
              </a:defRPr>
            </a:pPr>
            <a:r>
              <a:t>• 3.7 MB GeoJSON ilçe sınırları yüklemesi</a:t>
            </a:r>
          </a:p>
          <a:p>
            <a:pPr>
              <a:spcAft>
                <a:spcPts val="600"/>
              </a:spcAft>
              <a:defRPr sz="1200">
                <a:solidFill>
                  <a:srgbClr val="E2E8F0"/>
                </a:solidFill>
              </a:defRPr>
            </a:pPr>
            <a:r>
              <a:t>• Işın atma (Ray Casting) Point-in-Polygon</a:t>
            </a:r>
          </a:p>
          <a:p>
            <a:pPr>
              <a:spcAft>
                <a:spcPts val="600"/>
              </a:spcAft>
              <a:defRPr sz="1200">
                <a:solidFill>
                  <a:srgbClr val="E2E8F0"/>
                </a:solidFill>
              </a:defRPr>
            </a:pPr>
            <a:r>
              <a:t>• Haversine mesafe ve OSRM tekli rota</a:t>
            </a:r>
          </a:p>
        </p:txBody>
      </p:sp>
      <p:sp>
        <p:nvSpPr>
          <p:cNvPr id="10" name="Rounded Rectangle 9"/>
          <p:cNvSpPr/>
          <p:nvPr/>
        </p:nvSpPr>
        <p:spPr>
          <a:xfrm>
            <a:off x="438912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383280"/>
            <a:ext cx="2788920" cy="548640"/>
          </a:xfrm>
          <a:prstGeom prst="rect">
            <a:avLst/>
          </a:prstGeom>
          <a:noFill/>
        </p:spPr>
        <p:txBody>
          <a:bodyPr wrap="square">
            <a:spAutoFit/>
          </a:bodyPr>
          <a:lstStyle/>
          <a:p>
            <a:pPr>
              <a:defRPr sz="1500" b="1">
                <a:solidFill>
                  <a:srgbClr val="0EA5E9"/>
                </a:solidFill>
              </a:defRPr>
            </a:pPr>
            <a:r>
              <a:t>TOPSIS &amp; Çok Modlu Ulaşım</a:t>
            </a:r>
          </a:p>
        </p:txBody>
      </p:sp>
      <p:sp>
        <p:nvSpPr>
          <p:cNvPr id="12" name="TextBox 11"/>
          <p:cNvSpPr txBox="1"/>
          <p:nvPr/>
        </p:nvSpPr>
        <p:spPr>
          <a:xfrm>
            <a:off x="4572000" y="3977640"/>
            <a:ext cx="2788920" cy="2011680"/>
          </a:xfrm>
          <a:prstGeom prst="rect">
            <a:avLst/>
          </a:prstGeom>
          <a:noFill/>
        </p:spPr>
        <p:txBody>
          <a:bodyPr wrap="square">
            <a:spAutoFit/>
          </a:bodyPr>
          <a:lstStyle/>
          <a:p>
            <a:pPr>
              <a:spcAft>
                <a:spcPts val="600"/>
              </a:spcAft>
              <a:defRPr sz="1200">
                <a:solidFill>
                  <a:srgbClr val="E2E8F0"/>
                </a:solidFill>
              </a:defRPr>
            </a:pPr>
            <a:r>
              <a:t>• TOPSIS karar modeli (MatrixEngine)</a:t>
            </a:r>
          </a:p>
          <a:p>
            <a:pPr>
              <a:spcAft>
                <a:spcPts val="600"/>
              </a:spcAft>
              <a:defRPr sz="1200">
                <a:solidFill>
                  <a:srgbClr val="E2E8F0"/>
                </a:solidFill>
              </a:defRPr>
            </a:pPr>
            <a:r>
              <a:t>• İlçe öncelik skorları &amp; Choropleth renklendirme</a:t>
            </a:r>
          </a:p>
          <a:p>
            <a:pPr>
              <a:spcAft>
                <a:spcPts val="600"/>
              </a:spcAft>
              <a:defRPr sz="1200">
                <a:solidFill>
                  <a:srgbClr val="E2E8F0"/>
                </a:solidFill>
              </a:defRPr>
            </a:pPr>
            <a:r>
              <a:t>• 3D küresel koordinat projeksiyonu &amp; KNN</a:t>
            </a:r>
          </a:p>
          <a:p>
            <a:pPr>
              <a:spcAft>
                <a:spcPts val="600"/>
              </a:spcAft>
              <a:defRPr sz="1200">
                <a:solidFill>
                  <a:srgbClr val="E2E8F0"/>
                </a:solidFill>
              </a:defRPr>
            </a:pPr>
            <a:r>
              <a:t>• Toplu taşıma simülasyonu ve İSPARK sıralama</a:t>
            </a:r>
          </a:p>
        </p:txBody>
      </p:sp>
      <p:sp>
        <p:nvSpPr>
          <p:cNvPr id="13" name="Rounded Rectangle 12"/>
          <p:cNvSpPr/>
          <p:nvPr/>
        </p:nvSpPr>
        <p:spPr>
          <a:xfrm>
            <a:off x="786384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3383280"/>
            <a:ext cx="2788920" cy="548640"/>
          </a:xfrm>
          <a:prstGeom prst="rect">
            <a:avLst/>
          </a:prstGeom>
          <a:noFill/>
        </p:spPr>
        <p:txBody>
          <a:bodyPr wrap="square">
            <a:spAutoFit/>
          </a:bodyPr>
          <a:lstStyle/>
          <a:p>
            <a:pPr>
              <a:defRPr sz="1500" b="1">
                <a:solidFill>
                  <a:srgbClr val="0EA5E9"/>
                </a:solidFill>
              </a:defRPr>
            </a:pPr>
            <a:r>
              <a:t>APoSD 9 Katmanlı Backend</a:t>
            </a:r>
          </a:p>
        </p:txBody>
      </p:sp>
      <p:sp>
        <p:nvSpPr>
          <p:cNvPr id="15" name="TextBox 14"/>
          <p:cNvSpPr txBox="1"/>
          <p:nvPr/>
        </p:nvSpPr>
        <p:spPr>
          <a:xfrm>
            <a:off x="8046720" y="3977640"/>
            <a:ext cx="2788920" cy="2011680"/>
          </a:xfrm>
          <a:prstGeom prst="rect">
            <a:avLst/>
          </a:prstGeom>
          <a:noFill/>
        </p:spPr>
        <p:txBody>
          <a:bodyPr wrap="square">
            <a:spAutoFit/>
          </a:bodyPr>
          <a:lstStyle/>
          <a:p>
            <a:pPr>
              <a:spcAft>
                <a:spcPts val="600"/>
              </a:spcAft>
              <a:defRPr sz="1200">
                <a:solidFill>
                  <a:srgbClr val="E2E8F0"/>
                </a:solidFill>
              </a:defRPr>
            </a:pPr>
            <a:r>
              <a:t>• John Ousterhout derin modül mimarisi</a:t>
            </a:r>
          </a:p>
          <a:p>
            <a:pPr>
              <a:spcAft>
                <a:spcPts val="600"/>
              </a:spcAft>
              <a:defRPr sz="1200">
                <a:solidFill>
                  <a:srgbClr val="E2E8F0"/>
                </a:solidFill>
              </a:defRPr>
            </a:pPr>
            <a:r>
              <a:t>• Python ikiz backend geliştirme denemesi</a:t>
            </a:r>
          </a:p>
          <a:p>
            <a:pPr>
              <a:spcAft>
                <a:spcPts val="600"/>
              </a:spcAft>
              <a:defRPr sz="1200">
                <a:solidFill>
                  <a:srgbClr val="E2E8F0"/>
                </a:solidFill>
              </a:defRPr>
            </a:pPr>
            <a:r>
              <a:t>• advanced-gis/ altında 9 izole katman</a:t>
            </a:r>
          </a:p>
          <a:p>
            <a:pPr>
              <a:spcAft>
                <a:spcPts val="600"/>
              </a:spcAft>
              <a:defRPr sz="1200">
                <a:solidFill>
                  <a:srgbClr val="E2E8F0"/>
                </a:solidFill>
              </a:defRPr>
            </a:pPr>
            <a:r>
              <a:t>• API handler'larındaki sıkı bağımlılıkların çözümü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2. HAFTA (22-26 HAZIRAN 2026)  •  İŞ GÜNÜ DÖKÜMÜ</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Haftalık Gün Gün Kazanımlar ve Uygulama Detayları</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19072"/>
            <a:ext cx="1999427" cy="548640"/>
          </a:xfrm>
          <a:prstGeom prst="rect">
            <a:avLst/>
          </a:prstGeom>
          <a:noFill/>
        </p:spPr>
        <p:txBody>
          <a:bodyPr wrap="none">
            <a:spAutoFit/>
          </a:bodyPr>
          <a:lstStyle/>
          <a:p>
            <a:pPr algn="ctr">
              <a:defRPr sz="1200" b="1">
                <a:solidFill>
                  <a:srgbClr val="F8FAFC"/>
                </a:solidFill>
              </a:defRPr>
            </a:pPr>
            <a:r>
              <a:t>6. Gün (22/06)</a:t>
            </a:r>
          </a:p>
        </p:txBody>
      </p:sp>
      <p:sp>
        <p:nvSpPr>
          <p:cNvPr id="9" name="TextBox 8"/>
          <p:cNvSpPr txBox="1"/>
          <p:nvPr/>
        </p:nvSpPr>
        <p:spPr>
          <a:xfrm>
            <a:off x="841248" y="2331720"/>
            <a:ext cx="1779971" cy="640080"/>
          </a:xfrm>
          <a:prstGeom prst="rect">
            <a:avLst/>
          </a:prstGeom>
          <a:noFill/>
        </p:spPr>
        <p:txBody>
          <a:bodyPr wrap="square">
            <a:spAutoFit/>
          </a:bodyPr>
          <a:lstStyle/>
          <a:p>
            <a:pPr>
              <a:defRPr sz="1100" b="1">
                <a:solidFill>
                  <a:srgbClr val="0F172A"/>
                </a:solidFill>
              </a:defRPr>
            </a:pPr>
            <a:r>
              <a:t>Web Mimarisi, Git DAG &amp; Python</a:t>
            </a:r>
          </a:p>
        </p:txBody>
      </p:sp>
      <p:sp>
        <p:nvSpPr>
          <p:cNvPr id="10" name="TextBox 9"/>
          <p:cNvSpPr txBox="1"/>
          <p:nvPr/>
        </p:nvSpPr>
        <p:spPr>
          <a:xfrm>
            <a:off x="822960" y="3017520"/>
            <a:ext cx="1816547" cy="3200400"/>
          </a:xfrm>
          <a:prstGeom prst="rect">
            <a:avLst/>
          </a:prstGeom>
          <a:noFill/>
        </p:spPr>
        <p:txBody>
          <a:bodyPr wrap="square">
            <a:spAutoFit/>
          </a:bodyPr>
          <a:lstStyle/>
          <a:p>
            <a:pPr>
              <a:spcAft>
                <a:spcPts val="400"/>
              </a:spcAft>
              <a:defRPr sz="1000">
                <a:solidFill>
                  <a:srgbClr val="64748B"/>
                </a:solidFill>
              </a:defRPr>
            </a:pPr>
            <a:r>
              <a:t>• HTTP Request/Response döngüsü ve DOM ağaç yapısı analizi.</a:t>
            </a:r>
          </a:p>
          <a:p>
            <a:pPr>
              <a:spcAft>
                <a:spcPts val="400"/>
              </a:spcAft>
              <a:defRPr sz="1000">
                <a:solidFill>
                  <a:srgbClr val="64748B"/>
                </a:solidFill>
              </a:defRPr>
            </a:pPr>
            <a:r>
              <a:t>• Git DAG (Yönlü Döngüsüz Graf), branch yönetimi ve merge conflict çözümü.</a:t>
            </a:r>
          </a:p>
          <a:p>
            <a:pPr>
              <a:spcAft>
                <a:spcPts val="400"/>
              </a:spcAft>
              <a:defRPr sz="1000">
                <a:solidFill>
                  <a:srgbClr val="64748B"/>
                </a:solidFill>
              </a:defRPr>
            </a:pPr>
            <a:r>
              <a:t>• Python yorumlayıcı mekanizması, mutability ve O(1) hash table veri yapıları.</a:t>
            </a:r>
          </a:p>
          <a:p>
            <a:pPr>
              <a:spcAft>
                <a:spcPts val="400"/>
              </a:spcAft>
              <a:defRPr sz="1000">
                <a:solidFill>
                  <a:srgbClr val="64748B"/>
                </a:solidFill>
              </a:defRPr>
            </a:pPr>
            <a:r>
              <a:t>• OOP ilkeleri, __init__, self yapısı ve Python dekoratör mimarisi.</a:t>
            </a:r>
          </a:p>
        </p:txBody>
      </p:sp>
      <p:sp>
        <p:nvSpPr>
          <p:cNvPr id="11" name="Rounded Rectangle 10"/>
          <p:cNvSpPr/>
          <p:nvPr/>
        </p:nvSpPr>
        <p:spPr>
          <a:xfrm>
            <a:off x="2913827"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13827"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13827" y="1719072"/>
            <a:ext cx="1999427" cy="548640"/>
          </a:xfrm>
          <a:prstGeom prst="rect">
            <a:avLst/>
          </a:prstGeom>
          <a:noFill/>
        </p:spPr>
        <p:txBody>
          <a:bodyPr wrap="none">
            <a:spAutoFit/>
          </a:bodyPr>
          <a:lstStyle/>
          <a:p>
            <a:pPr algn="ctr">
              <a:defRPr sz="1200" b="1">
                <a:solidFill>
                  <a:srgbClr val="F8FAFC"/>
                </a:solidFill>
              </a:defRPr>
            </a:pPr>
            <a:r>
              <a:t>7. Gün (23/06)</a:t>
            </a:r>
          </a:p>
        </p:txBody>
      </p:sp>
      <p:sp>
        <p:nvSpPr>
          <p:cNvPr id="14" name="TextBox 13"/>
          <p:cNvSpPr txBox="1"/>
          <p:nvPr/>
        </p:nvSpPr>
        <p:spPr>
          <a:xfrm>
            <a:off x="3023555" y="2331720"/>
            <a:ext cx="1779971" cy="640080"/>
          </a:xfrm>
          <a:prstGeom prst="rect">
            <a:avLst/>
          </a:prstGeom>
          <a:noFill/>
        </p:spPr>
        <p:txBody>
          <a:bodyPr wrap="square">
            <a:spAutoFit/>
          </a:bodyPr>
          <a:lstStyle/>
          <a:p>
            <a:pPr>
              <a:defRPr sz="1100" b="1">
                <a:solidFill>
                  <a:srgbClr val="0F172A"/>
                </a:solidFill>
              </a:defRPr>
            </a:pPr>
            <a:r>
              <a:t>Django MVT &amp; Asenkron İstemci</a:t>
            </a:r>
          </a:p>
        </p:txBody>
      </p:sp>
      <p:sp>
        <p:nvSpPr>
          <p:cNvPr id="15" name="TextBox 14"/>
          <p:cNvSpPr txBox="1"/>
          <p:nvPr/>
        </p:nvSpPr>
        <p:spPr>
          <a:xfrm>
            <a:off x="3005267" y="3017520"/>
            <a:ext cx="1816547" cy="3200400"/>
          </a:xfrm>
          <a:prstGeom prst="rect">
            <a:avLst/>
          </a:prstGeom>
          <a:noFill/>
        </p:spPr>
        <p:txBody>
          <a:bodyPr wrap="square">
            <a:spAutoFit/>
          </a:bodyPr>
          <a:lstStyle/>
          <a:p>
            <a:pPr>
              <a:spcAft>
                <a:spcPts val="400"/>
              </a:spcAft>
              <a:defRPr sz="1000">
                <a:solidFill>
                  <a:srgbClr val="64748B"/>
                </a:solidFill>
              </a:defRPr>
            </a:pPr>
            <a:r>
              <a:t>• Django MVT (Model-View-Template) mimarisi ve dinamik URL rotalama.</a:t>
            </a:r>
          </a:p>
          <a:p>
            <a:pPr>
              <a:spcAft>
                <a:spcPts val="400"/>
              </a:spcAft>
              <a:defRPr sz="1000">
                <a:solidFill>
                  <a:srgbClr val="64748B"/>
                </a:solidFill>
              </a:defRPr>
            </a:pPr>
            <a:r>
              <a:t>• Django ORM ile ForeignKey ve ManyToMany ilişkileri kurma.</a:t>
            </a:r>
          </a:p>
          <a:p>
            <a:pPr>
              <a:spcAft>
                <a:spcPts val="400"/>
              </a:spcAft>
              <a:defRPr sz="1000">
                <a:solidFill>
                  <a:srgbClr val="64748B"/>
                </a:solidFill>
              </a:defRPr>
            </a:pPr>
            <a:r>
              <a:t>• Sunucu taraflı form doğrulama, CSRF token güvenliği ve Sessions.</a:t>
            </a:r>
          </a:p>
          <a:p>
            <a:pPr>
              <a:spcAft>
                <a:spcPts val="400"/>
              </a:spcAft>
              <a:defRPr sz="1000">
                <a:solidFill>
                  <a:srgbClr val="64748B"/>
                </a:solidFill>
              </a:defRPr>
            </a:pPr>
            <a:r>
              <a:t>• JavaScript DOMContentLoaded, Fetch API, async/await ve localStorage.</a:t>
            </a:r>
          </a:p>
        </p:txBody>
      </p:sp>
      <p:sp>
        <p:nvSpPr>
          <p:cNvPr id="16" name="Rounded Rectangle 15"/>
          <p:cNvSpPr/>
          <p:nvPr/>
        </p:nvSpPr>
        <p:spPr>
          <a:xfrm>
            <a:off x="5096134"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6134"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96134" y="1719072"/>
            <a:ext cx="1999427" cy="548640"/>
          </a:xfrm>
          <a:prstGeom prst="rect">
            <a:avLst/>
          </a:prstGeom>
          <a:noFill/>
        </p:spPr>
        <p:txBody>
          <a:bodyPr wrap="none">
            <a:spAutoFit/>
          </a:bodyPr>
          <a:lstStyle/>
          <a:p>
            <a:pPr algn="ctr">
              <a:defRPr sz="1200" b="1">
                <a:solidFill>
                  <a:srgbClr val="F8FAFC"/>
                </a:solidFill>
              </a:defRPr>
            </a:pPr>
            <a:r>
              <a:t>8. Gün (24/06)</a:t>
            </a:r>
          </a:p>
        </p:txBody>
      </p:sp>
      <p:sp>
        <p:nvSpPr>
          <p:cNvPr id="19" name="TextBox 18"/>
          <p:cNvSpPr txBox="1"/>
          <p:nvPr/>
        </p:nvSpPr>
        <p:spPr>
          <a:xfrm>
            <a:off x="5205862" y="2331720"/>
            <a:ext cx="1779971" cy="640080"/>
          </a:xfrm>
          <a:prstGeom prst="rect">
            <a:avLst/>
          </a:prstGeom>
          <a:noFill/>
        </p:spPr>
        <p:txBody>
          <a:bodyPr wrap="square">
            <a:spAutoFit/>
          </a:bodyPr>
          <a:lstStyle/>
          <a:p>
            <a:pPr>
              <a:defRPr sz="1100" b="1">
                <a:solidFill>
                  <a:srgbClr val="0F172A"/>
                </a:solidFill>
              </a:defRPr>
            </a:pPr>
            <a:r>
              <a:t>Harita Katmanları &amp; Ray Casting</a:t>
            </a:r>
          </a:p>
        </p:txBody>
      </p:sp>
      <p:sp>
        <p:nvSpPr>
          <p:cNvPr id="20" name="TextBox 19"/>
          <p:cNvSpPr txBox="1"/>
          <p:nvPr/>
        </p:nvSpPr>
        <p:spPr>
          <a:xfrm>
            <a:off x="5187574" y="3017520"/>
            <a:ext cx="1816547" cy="3200400"/>
          </a:xfrm>
          <a:prstGeom prst="rect">
            <a:avLst/>
          </a:prstGeom>
          <a:noFill/>
        </p:spPr>
        <p:txBody>
          <a:bodyPr wrap="square">
            <a:spAutoFit/>
          </a:bodyPr>
          <a:lstStyle/>
          <a:p>
            <a:pPr>
              <a:spcAft>
                <a:spcPts val="400"/>
              </a:spcAft>
              <a:defRPr sz="1000">
                <a:solidFill>
                  <a:srgbClr val="64748B"/>
                </a:solidFill>
              </a:defRPr>
            </a:pPr>
            <a:r>
              <a:t>• Leaflet altlık haritasına 39 ilçe GeoJSON ve tesis nokta katmanı entegrasyonu.</a:t>
            </a:r>
          </a:p>
          <a:p>
            <a:pPr>
              <a:spcAft>
                <a:spcPts val="400"/>
              </a:spcAft>
              <a:defRPr sz="1000">
                <a:solidFill>
                  <a:srgbClr val="64748B"/>
                </a:solidFill>
              </a:defRPr>
            </a:pPr>
            <a:r>
              <a:t>• Katman kontrolü ile altlık/veri katmanlarının bağımsız yönetimi.</a:t>
            </a:r>
          </a:p>
          <a:p>
            <a:pPr>
              <a:spcAft>
                <a:spcPts val="400"/>
              </a:spcAft>
              <a:defRPr sz="1000">
                <a:solidFill>
                  <a:srgbClr val="64748B"/>
                </a:solidFill>
              </a:defRPr>
            </a:pPr>
            <a:r>
              <a:t>• Nokta-poligon içerme testi için ışın atma (Ray Casting) fonksiyonu yazıldı.</a:t>
            </a:r>
          </a:p>
          <a:p>
            <a:pPr>
              <a:spcAft>
                <a:spcPts val="400"/>
              </a:spcAft>
              <a:defRPr sz="1000">
                <a:solidFill>
                  <a:srgbClr val="64748B"/>
                </a:solidFill>
              </a:defRPr>
            </a:pPr>
            <a:r>
              <a:t>• 3.7 MB GeoJSON dosyasının tarayıcı belleğine yüklenme maliyeti not edildi.</a:t>
            </a:r>
          </a:p>
        </p:txBody>
      </p:sp>
      <p:sp>
        <p:nvSpPr>
          <p:cNvPr id="21" name="Rounded Rectangle 20"/>
          <p:cNvSpPr/>
          <p:nvPr/>
        </p:nvSpPr>
        <p:spPr>
          <a:xfrm>
            <a:off x="7278441"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78441"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78441" y="1719072"/>
            <a:ext cx="1999427" cy="548640"/>
          </a:xfrm>
          <a:prstGeom prst="rect">
            <a:avLst/>
          </a:prstGeom>
          <a:noFill/>
        </p:spPr>
        <p:txBody>
          <a:bodyPr wrap="none">
            <a:spAutoFit/>
          </a:bodyPr>
          <a:lstStyle/>
          <a:p>
            <a:pPr algn="ctr">
              <a:defRPr sz="1200" b="1">
                <a:solidFill>
                  <a:srgbClr val="F8FAFC"/>
                </a:solidFill>
              </a:defRPr>
            </a:pPr>
            <a:r>
              <a:t>9. Gün (25/06)</a:t>
            </a:r>
          </a:p>
        </p:txBody>
      </p:sp>
      <p:sp>
        <p:nvSpPr>
          <p:cNvPr id="24" name="TextBox 23"/>
          <p:cNvSpPr txBox="1"/>
          <p:nvPr/>
        </p:nvSpPr>
        <p:spPr>
          <a:xfrm>
            <a:off x="7388169" y="2331720"/>
            <a:ext cx="1779971" cy="640080"/>
          </a:xfrm>
          <a:prstGeom prst="rect">
            <a:avLst/>
          </a:prstGeom>
          <a:noFill/>
        </p:spPr>
        <p:txBody>
          <a:bodyPr wrap="square">
            <a:spAutoFit/>
          </a:bodyPr>
          <a:lstStyle/>
          <a:p>
            <a:pPr>
              <a:defRPr sz="1100" b="1">
                <a:solidFill>
                  <a:srgbClr val="0F172A"/>
                </a:solidFill>
              </a:defRPr>
            </a:pPr>
            <a:r>
              <a:t>Dış Veri &amp; OSRM Rota Çizimi</a:t>
            </a:r>
          </a:p>
        </p:txBody>
      </p:sp>
      <p:sp>
        <p:nvSpPr>
          <p:cNvPr id="25" name="TextBox 24"/>
          <p:cNvSpPr txBox="1"/>
          <p:nvPr/>
        </p:nvSpPr>
        <p:spPr>
          <a:xfrm>
            <a:off x="7369881" y="3017520"/>
            <a:ext cx="1816547" cy="3200400"/>
          </a:xfrm>
          <a:prstGeom prst="rect">
            <a:avLst/>
          </a:prstGeom>
          <a:noFill/>
        </p:spPr>
        <p:txBody>
          <a:bodyPr wrap="square">
            <a:spAutoFit/>
          </a:bodyPr>
          <a:lstStyle/>
          <a:p>
            <a:pPr>
              <a:spcAft>
                <a:spcPts val="400"/>
              </a:spcAft>
              <a:defRPr sz="1000">
                <a:solidFill>
                  <a:srgbClr val="64748B"/>
                </a:solidFill>
              </a:defRPr>
            </a:pPr>
            <a:r>
              <a:t>• Haritaya dinamik hava durumu widget'ı ve demografik veri katmanı eklendi.</a:t>
            </a:r>
          </a:p>
          <a:p>
            <a:pPr>
              <a:spcAft>
                <a:spcPts val="400"/>
              </a:spcAft>
              <a:defRPr sz="1000">
                <a:solidFill>
                  <a:srgbClr val="64748B"/>
                </a:solidFill>
              </a:defRPr>
            </a:pPr>
            <a:r>
              <a:t>• İki nokta arası küresel mesafe hesabı için Haversine formülü uygulandı.</a:t>
            </a:r>
          </a:p>
          <a:p>
            <a:pPr>
              <a:spcAft>
                <a:spcPts val="400"/>
              </a:spcAft>
              <a:defRPr sz="1000">
                <a:solidFill>
                  <a:srgbClr val="64748B"/>
                </a:solidFill>
              </a:defRPr>
            </a:pPr>
            <a:r>
              <a:t>• OSRM API ile kullanıcı konumundan tesise araç rotası çizildi.</a:t>
            </a:r>
          </a:p>
          <a:p>
            <a:pPr>
              <a:spcAft>
                <a:spcPts val="400"/>
              </a:spcAft>
              <a:defRPr sz="1000">
                <a:solidFill>
                  <a:srgbClr val="64748B"/>
                </a:solidFill>
              </a:defRPr>
            </a:pPr>
            <a:r>
              <a:t>• Çok modlu ulaşım genişletmesi öncesi dış servis entegrasyonu doğrulandı.</a:t>
            </a:r>
          </a:p>
        </p:txBody>
      </p:sp>
      <p:sp>
        <p:nvSpPr>
          <p:cNvPr id="26" name="Rounded Rectangle 25"/>
          <p:cNvSpPr/>
          <p:nvPr/>
        </p:nvSpPr>
        <p:spPr>
          <a:xfrm>
            <a:off x="9460748"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60748"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60748" y="1719072"/>
            <a:ext cx="1999427" cy="548640"/>
          </a:xfrm>
          <a:prstGeom prst="rect">
            <a:avLst/>
          </a:prstGeom>
          <a:noFill/>
        </p:spPr>
        <p:txBody>
          <a:bodyPr wrap="none">
            <a:spAutoFit/>
          </a:bodyPr>
          <a:lstStyle/>
          <a:p>
            <a:pPr algn="ctr">
              <a:defRPr sz="1200" b="1">
                <a:solidFill>
                  <a:srgbClr val="F8FAFC"/>
                </a:solidFill>
              </a:defRPr>
            </a:pPr>
            <a:r>
              <a:t>10. Gün (26/06)</a:t>
            </a:r>
          </a:p>
        </p:txBody>
      </p:sp>
      <p:sp>
        <p:nvSpPr>
          <p:cNvPr id="29" name="TextBox 28"/>
          <p:cNvSpPr txBox="1"/>
          <p:nvPr/>
        </p:nvSpPr>
        <p:spPr>
          <a:xfrm>
            <a:off x="9570476" y="2331720"/>
            <a:ext cx="1779971" cy="640080"/>
          </a:xfrm>
          <a:prstGeom prst="rect">
            <a:avLst/>
          </a:prstGeom>
          <a:noFill/>
        </p:spPr>
        <p:txBody>
          <a:bodyPr wrap="square">
            <a:spAutoFit/>
          </a:bodyPr>
          <a:lstStyle/>
          <a:p>
            <a:pPr>
              <a:defRPr sz="1100" b="1">
                <a:solidFill>
                  <a:srgbClr val="0F172A"/>
                </a:solidFill>
              </a:defRPr>
            </a:pPr>
            <a:r>
              <a:t>Uçtan Uca CBS &amp; 9 Katmanlı Mimari</a:t>
            </a:r>
          </a:p>
        </p:txBody>
      </p:sp>
      <p:sp>
        <p:nvSpPr>
          <p:cNvPr id="30" name="TextBox 29"/>
          <p:cNvSpPr txBox="1"/>
          <p:nvPr/>
        </p:nvSpPr>
        <p:spPr>
          <a:xfrm>
            <a:off x="9552188" y="3017520"/>
            <a:ext cx="1816547" cy="3200400"/>
          </a:xfrm>
          <a:prstGeom prst="rect">
            <a:avLst/>
          </a:prstGeom>
          <a:noFill/>
        </p:spPr>
        <p:txBody>
          <a:bodyPr wrap="square">
            <a:spAutoFit/>
          </a:bodyPr>
          <a:lstStyle/>
          <a:p>
            <a:pPr>
              <a:spcAft>
                <a:spcPts val="400"/>
              </a:spcAft>
              <a:defRPr sz="1000">
                <a:solidFill>
                  <a:srgbClr val="64748B"/>
                </a:solidFill>
              </a:defRPr>
            </a:pPr>
            <a:r>
              <a:t>• TOPSIS çok kriterli karar modeli JavaScript'te (MatrixEngine) kodlandı.</a:t>
            </a:r>
          </a:p>
          <a:p>
            <a:pPr>
              <a:spcAft>
                <a:spcPts val="400"/>
              </a:spcAft>
              <a:defRPr sz="1000">
                <a:solidFill>
                  <a:srgbClr val="64748B"/>
                </a:solidFill>
              </a:defRPr>
            </a:pPr>
            <a:r>
              <a:t>• İlçe öncelik skorlarına göre harita tematik (Choropleth) renklendirildi.</a:t>
            </a:r>
          </a:p>
          <a:p>
            <a:pPr>
              <a:spcAft>
                <a:spcPts val="400"/>
              </a:spcAft>
              <a:defRPr sz="1000">
                <a:solidFill>
                  <a:srgbClr val="64748B"/>
                </a:solidFill>
              </a:defRPr>
            </a:pPr>
            <a:r>
              <a:t>• İSPARK otoparkları 3D kartezyen projeksiyonlu KNN ile mesafeye göre sıralandı.</a:t>
            </a:r>
          </a:p>
          <a:p>
            <a:pPr>
              <a:spcAft>
                <a:spcPts val="400"/>
              </a:spcAft>
              <a:defRPr sz="1000">
                <a:solidFill>
                  <a:srgbClr val="64748B"/>
                </a:solidFill>
              </a:defRPr>
            </a:pPr>
            <a:r>
              <a:t>• APoSD derin modül ilkeleriyle Python tarafı 9 katmanlı mimariye ayrıldı.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2. HAFTA (22-26 HAZIRAN 2026)  •  TEKNIK MIMARI &amp; İNCELEME</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Karar Modeli ve APoSD Katmanlı Mimari Yapısı</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548640"/>
          </a:xfrm>
          <a:prstGeom prst="rect">
            <a:avLst/>
          </a:prstGeom>
          <a:noFill/>
        </p:spPr>
        <p:txBody>
          <a:bodyPr wrap="none">
            <a:spAutoFit/>
          </a:bodyPr>
          <a:lstStyle/>
          <a:p>
            <a:pPr>
              <a:defRPr sz="1600" b="1">
                <a:solidFill>
                  <a:srgbClr val="0369A1"/>
                </a:solidFill>
              </a:defRPr>
            </a:pPr>
            <a:r>
              <a:t>TOPSIS &amp; Mekansal KNN (MatrixEngine)</a:t>
            </a:r>
          </a:p>
        </p:txBody>
      </p:sp>
      <p:sp>
        <p:nvSpPr>
          <p:cNvPr id="8" name="TextBox 7"/>
          <p:cNvSpPr txBox="1"/>
          <p:nvPr/>
        </p:nvSpPr>
        <p:spPr>
          <a:xfrm>
            <a:off x="914400" y="2423160"/>
            <a:ext cx="4846320" cy="2560320"/>
          </a:xfrm>
          <a:prstGeom prst="rect">
            <a:avLst/>
          </a:prstGeom>
          <a:noFill/>
        </p:spPr>
        <p:txBody>
          <a:bodyPr wrap="square">
            <a:spAutoFit/>
          </a:bodyPr>
          <a:lstStyle/>
          <a:p>
            <a:pPr>
              <a:spcAft>
                <a:spcPts val="600"/>
              </a:spcAft>
              <a:defRPr sz="1200">
                <a:solidFill>
                  <a:srgbClr val="0F172A"/>
                </a:solidFill>
              </a:defRPr>
            </a:pPr>
            <a:r>
              <a:t>• Lineer Cebir Tabanlı TOPSIS: İlçe nüfus yoğunluğu (fayda), mevcut tesis sayısı (maliyet) ve ortalama uzaklık (fayda) kriterleri normalizasyon ve Öklid mesafesinden geçirildi.</a:t>
            </a:r>
          </a:p>
          <a:p>
            <a:pPr>
              <a:spcAft>
                <a:spcPts val="600"/>
              </a:spcAft>
              <a:defRPr sz="1200">
                <a:solidFill>
                  <a:srgbClr val="0F172A"/>
                </a:solidFill>
              </a:defRPr>
            </a:pPr>
            <a:r>
              <a:t>• Choropleth Renklendirme: Her ilçenin yakınlık katsayısı (0-1) hesaplanarak tematik yatırım öncelik haritası üretildi.</a:t>
            </a:r>
          </a:p>
          <a:p>
            <a:pPr>
              <a:spcAft>
                <a:spcPts val="600"/>
              </a:spcAft>
              <a:defRPr sz="1200">
                <a:solidFill>
                  <a:srgbClr val="0F172A"/>
                </a:solidFill>
              </a:defRPr>
            </a:pPr>
            <a:r>
              <a:t>• 3D Küresel KNN: Enlem/boylam küresel açısal birim olduğundan düz Öklid uygulanamaz. Koordinatlar 3D birim küreye projekte edilerek vektör çarpımıyla en yakın İSPARK'lar listelendi.</a:t>
            </a:r>
          </a:p>
          <a:p>
            <a:pPr>
              <a:spcAft>
                <a:spcPts val="600"/>
              </a:spcAft>
              <a:defRPr sz="1200">
                <a:solidFill>
                  <a:srgbClr val="0F172A"/>
                </a:solidFill>
              </a:defRPr>
            </a:pPr>
            <a:r>
              <a:t>• OSRM Çok Modlu Rota: Araç rotası yanında metro/otobüs aktarmalı toplu taşıma ve kesikli çizgili yürüyüş rotaları simüle edildi.</a:t>
            </a:r>
          </a:p>
        </p:txBody>
      </p:sp>
      <p:sp>
        <p:nvSpPr>
          <p:cNvPr id="9" name="Rounded Rectangle 8"/>
          <p:cNvSpPr/>
          <p:nvPr/>
        </p:nvSpPr>
        <p:spPr>
          <a:xfrm>
            <a:off x="62179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548640"/>
          </a:xfrm>
          <a:prstGeom prst="rect">
            <a:avLst/>
          </a:prstGeom>
          <a:noFill/>
        </p:spPr>
        <p:txBody>
          <a:bodyPr wrap="none">
            <a:spAutoFit/>
          </a:bodyPr>
          <a:lstStyle/>
          <a:p>
            <a:pPr>
              <a:defRPr sz="1600" b="1">
                <a:solidFill>
                  <a:srgbClr val="6366F1"/>
                </a:solidFill>
              </a:defRPr>
            </a:pPr>
            <a:r>
              <a:t>John Ousterhout 9 Katmanlı Backend (Python İkizi)</a:t>
            </a:r>
          </a:p>
        </p:txBody>
      </p:sp>
      <p:sp>
        <p:nvSpPr>
          <p:cNvPr id="11" name="TextBox 10"/>
          <p:cNvSpPr txBox="1"/>
          <p:nvPr/>
        </p:nvSpPr>
        <p:spPr>
          <a:xfrm>
            <a:off x="6400800" y="2423160"/>
            <a:ext cx="4846320" cy="2560320"/>
          </a:xfrm>
          <a:prstGeom prst="rect">
            <a:avLst/>
          </a:prstGeom>
          <a:noFill/>
        </p:spPr>
        <p:txBody>
          <a:bodyPr wrap="square">
            <a:spAutoFit/>
          </a:bodyPr>
          <a:lstStyle/>
          <a:p>
            <a:pPr>
              <a:spcAft>
                <a:spcPts val="600"/>
              </a:spcAft>
              <a:defRPr sz="1200">
                <a:solidFill>
                  <a:srgbClr val="0F172A"/>
                </a:solidFill>
              </a:defRPr>
            </a:pPr>
            <a:r>
              <a:t>• Derin Modül Felsefesi: Basit dış arayüz, zengin iç gövde. Modül karmaşıklığı dışarıya sızdırmaz.</a:t>
            </a:r>
          </a:p>
          <a:p>
            <a:pPr>
              <a:spcAft>
                <a:spcPts val="600"/>
              </a:spcAft>
              <a:defRPr sz="1200">
                <a:solidFill>
                  <a:srgbClr val="0F172A"/>
                </a:solidFill>
              </a:defRPr>
            </a:pPr>
            <a:r>
              <a:t>• 9 İzole Katman: config, security (crypto_signer), observability (tracer), models, weather, ispark, scraper, handler (main), connection.</a:t>
            </a:r>
          </a:p>
          <a:p>
            <a:pPr>
              <a:spcAft>
                <a:spcPts val="600"/>
              </a:spcAft>
              <a:defRPr sz="1200">
                <a:solidFill>
                  <a:srgbClr val="0F172A"/>
                </a:solidFill>
              </a:defRPr>
            </a:pPr>
            <a:r>
              <a:t>• Paralel Geliştirme Denemesi: İstemci JS ile backend Python mimarisinin ayrıştırılması.</a:t>
            </a:r>
          </a:p>
          <a:p>
            <a:pPr>
              <a:spcAft>
                <a:spcPts val="600"/>
              </a:spcAft>
              <a:defRPr sz="1200">
                <a:solidFill>
                  <a:srgbClr val="0F172A"/>
                </a:solidFill>
              </a:defRPr>
            </a:pPr>
            <a:r>
              <a:t>• Fark Edilen Risk: Python tarafı ile Node tarafının paralel yürümesi, ileride iki ayrı şema ve çift yazma (dual write) yükü getireceğinin ilk sinyalini verdi.</a:t>
            </a:r>
          </a:p>
        </p:txBody>
      </p:sp>
      <p:sp>
        <p:nvSpPr>
          <p:cNvPr id="12" name="Rounded Rectangle 11"/>
          <p:cNvSpPr/>
          <p:nvPr/>
        </p:nvSpPr>
        <p:spPr>
          <a:xfrm>
            <a:off x="731520" y="5303520"/>
            <a:ext cx="10728655" cy="1097280"/>
          </a:xfrm>
          <a:prstGeom prst="roundRect">
            <a:avLst/>
          </a:prstGeom>
          <a:solidFill>
            <a:srgbClr val="F1F5F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13248"/>
            <a:ext cx="10362895" cy="320040"/>
          </a:xfrm>
          <a:prstGeom prst="rect">
            <a:avLst/>
          </a:prstGeom>
          <a:noFill/>
        </p:spPr>
        <p:txBody>
          <a:bodyPr wrap="none">
            <a:spAutoFit/>
          </a:bodyPr>
          <a:lstStyle/>
          <a:p>
            <a:pPr>
              <a:defRPr sz="1200" b="1">
                <a:solidFill>
                  <a:srgbClr val="0369A1"/>
                </a:solidFill>
              </a:defRPr>
            </a:pPr>
            <a:r>
              <a:t>💡 Mentör Savunma &amp; Jüri Notu (APoSD &amp; DDIA Yaklaşımı)</a:t>
            </a:r>
          </a:p>
        </p:txBody>
      </p:sp>
      <p:sp>
        <p:nvSpPr>
          <p:cNvPr id="14" name="TextBox 13"/>
          <p:cNvSpPr txBox="1"/>
          <p:nvPr/>
        </p:nvSpPr>
        <p:spPr>
          <a:xfrm>
            <a:off x="914400" y="5715000"/>
            <a:ext cx="10362895" cy="594360"/>
          </a:xfrm>
          <a:prstGeom prst="rect">
            <a:avLst/>
          </a:prstGeom>
          <a:noFill/>
        </p:spPr>
        <p:txBody>
          <a:bodyPr wrap="square">
            <a:spAutoFit/>
          </a:bodyPr>
          <a:lstStyle/>
          <a:p>
            <a:pPr>
              <a:defRPr sz="1100">
                <a:solidFill>
                  <a:srgbClr val="0F172A"/>
                </a:solidFill>
              </a:defRPr>
            </a:pPr>
            <a:r>
              <a:t>Ray-casting algoritması veritabanı olmadan mekansal içerme testini mümkün kıldı. Ancak 3.7 MB'lık sınır dosyasını her açılışta tarayıcı belleğine okumak, gerçek bir mekansal veritabanı (PostGIS) ihtiyacını somutlaştırdı. Python backend denemesi ise iki ayrı dilde şema tutmanın teknik borcunu ilk kez yaşattı.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2. HAFTA (22-26 HAZIRAN 2026)  •  KAZANIMLAR &amp; SAVUNMA</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Haftanın Mühendislik Çıkarımları ve Karar Özeti</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828800"/>
            <a:ext cx="73152"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2907792" cy="548640"/>
          </a:xfrm>
          <a:prstGeom prst="rect">
            <a:avLst/>
          </a:prstGeom>
          <a:noFill/>
        </p:spPr>
        <p:txBody>
          <a:bodyPr wrap="none">
            <a:spAutoFit/>
          </a:bodyPr>
          <a:lstStyle/>
          <a:p>
            <a:pPr>
              <a:defRPr sz="1500" b="1">
                <a:solidFill>
                  <a:srgbClr val="0F172A"/>
                </a:solidFill>
              </a:defRPr>
            </a:pPr>
            <a:r>
              <a:t>Işın Atma (Ray-Casting)</a:t>
            </a:r>
          </a:p>
        </p:txBody>
      </p:sp>
      <p:sp>
        <p:nvSpPr>
          <p:cNvPr id="9" name="TextBox 8"/>
          <p:cNvSpPr txBox="1"/>
          <p:nvPr/>
        </p:nvSpPr>
        <p:spPr>
          <a:xfrm>
            <a:off x="914400" y="2423160"/>
            <a:ext cx="2999232" cy="2377440"/>
          </a:xfrm>
          <a:prstGeom prst="rect">
            <a:avLst/>
          </a:prstGeom>
          <a:noFill/>
        </p:spPr>
        <p:txBody>
          <a:bodyPr wrap="square">
            <a:spAutoFit/>
          </a:bodyPr>
          <a:lstStyle/>
          <a:p>
            <a:pPr>
              <a:spcAft>
                <a:spcPts val="500"/>
              </a:spcAft>
              <a:defRPr sz="1100">
                <a:solidFill>
                  <a:srgbClr val="64748B"/>
                </a:solidFill>
              </a:defRPr>
            </a:pPr>
            <a:r>
              <a:t>• Noktadan sonsuza çekilen ışının poligon kenarlarını kesme sayısı sayılır.</a:t>
            </a:r>
          </a:p>
          <a:p>
            <a:pPr>
              <a:spcAft>
                <a:spcPts val="500"/>
              </a:spcAft>
              <a:defRPr sz="1100">
                <a:solidFill>
                  <a:srgbClr val="64748B"/>
                </a:solidFill>
              </a:defRPr>
            </a:pPr>
            <a:r>
              <a:t>• Tek sayıda kesişim nokta içeride, çift sayıda kesişim dışarıda demektir.</a:t>
            </a:r>
          </a:p>
          <a:p>
            <a:pPr>
              <a:spcAft>
                <a:spcPts val="500"/>
              </a:spcAft>
              <a:defRPr sz="1100">
                <a:solidFill>
                  <a:srgbClr val="64748B"/>
                </a:solidFill>
              </a:defRPr>
            </a:pPr>
            <a:r>
              <a:t>• Karmaşık içbükey poligonlarda bile çalıştığı JS üzerinde doğrulandı.</a:t>
            </a:r>
          </a:p>
        </p:txBody>
      </p:sp>
      <p:sp>
        <p:nvSpPr>
          <p:cNvPr id="10" name="Rounded Rectangle 9"/>
          <p:cNvSpPr/>
          <p:nvPr/>
        </p:nvSpPr>
        <p:spPr>
          <a:xfrm>
            <a:off x="4407408"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0288" y="1828800"/>
            <a:ext cx="73152"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783080"/>
            <a:ext cx="2907792" cy="548640"/>
          </a:xfrm>
          <a:prstGeom prst="rect">
            <a:avLst/>
          </a:prstGeom>
          <a:noFill/>
        </p:spPr>
        <p:txBody>
          <a:bodyPr wrap="none">
            <a:spAutoFit/>
          </a:bodyPr>
          <a:lstStyle/>
          <a:p>
            <a:pPr>
              <a:defRPr sz="1500" b="1">
                <a:solidFill>
                  <a:srgbClr val="0F172A"/>
                </a:solidFill>
              </a:defRPr>
            </a:pPr>
            <a:r>
              <a:t>Küresel Projeksiyon Zorunluluğu</a:t>
            </a:r>
          </a:p>
        </p:txBody>
      </p:sp>
      <p:sp>
        <p:nvSpPr>
          <p:cNvPr id="13" name="TextBox 12"/>
          <p:cNvSpPr txBox="1"/>
          <p:nvPr/>
        </p:nvSpPr>
        <p:spPr>
          <a:xfrm>
            <a:off x="4590288" y="2423160"/>
            <a:ext cx="2999232" cy="2377440"/>
          </a:xfrm>
          <a:prstGeom prst="rect">
            <a:avLst/>
          </a:prstGeom>
          <a:noFill/>
        </p:spPr>
        <p:txBody>
          <a:bodyPr wrap="square">
            <a:spAutoFit/>
          </a:bodyPr>
          <a:lstStyle/>
          <a:p>
            <a:pPr>
              <a:spcAft>
                <a:spcPts val="500"/>
              </a:spcAft>
              <a:defRPr sz="1100">
                <a:solidFill>
                  <a:srgbClr val="64748B"/>
                </a:solidFill>
              </a:defRPr>
            </a:pPr>
            <a:r>
              <a:t>• Enlem ve boylam doğrudan kartezyen koordinat gibi kullanılamaz.</a:t>
            </a:r>
          </a:p>
          <a:p>
            <a:pPr>
              <a:spcAft>
                <a:spcPts val="500"/>
              </a:spcAft>
              <a:defRPr sz="1100">
                <a:solidFill>
                  <a:srgbClr val="64748B"/>
                </a:solidFill>
              </a:defRPr>
            </a:pPr>
            <a:r>
              <a:t>• Öklid mesafesi için koordinatlar önce 3D birim küreye (x, y, z) projekte edildi.</a:t>
            </a:r>
          </a:p>
          <a:p>
            <a:pPr>
              <a:spcAft>
                <a:spcPts val="500"/>
              </a:spcAft>
              <a:defRPr sz="1100">
                <a:solidFill>
                  <a:srgbClr val="64748B"/>
                </a:solidFill>
              </a:defRPr>
            </a:pPr>
            <a:r>
              <a:t>• Böylece trigonometrik mesafe hesabı hızlı matris çarpımına indirgendi.</a:t>
            </a:r>
          </a:p>
        </p:txBody>
      </p:sp>
      <p:sp>
        <p:nvSpPr>
          <p:cNvPr id="14" name="Rounded Rectangle 13"/>
          <p:cNvSpPr/>
          <p:nvPr/>
        </p:nvSpPr>
        <p:spPr>
          <a:xfrm>
            <a:off x="8083296"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6176" y="1828800"/>
            <a:ext cx="7315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1783080"/>
            <a:ext cx="2907792" cy="548640"/>
          </a:xfrm>
          <a:prstGeom prst="rect">
            <a:avLst/>
          </a:prstGeom>
          <a:noFill/>
        </p:spPr>
        <p:txBody>
          <a:bodyPr wrap="none">
            <a:spAutoFit/>
          </a:bodyPr>
          <a:lstStyle/>
          <a:p>
            <a:pPr>
              <a:defRPr sz="1500" b="1">
                <a:solidFill>
                  <a:srgbClr val="0F172A"/>
                </a:solidFill>
              </a:defRPr>
            </a:pPr>
            <a:r>
              <a:t>APoSD Derin Modül Kuralı</a:t>
            </a:r>
          </a:p>
        </p:txBody>
      </p:sp>
      <p:sp>
        <p:nvSpPr>
          <p:cNvPr id="17" name="TextBox 16"/>
          <p:cNvSpPr txBox="1"/>
          <p:nvPr/>
        </p:nvSpPr>
        <p:spPr>
          <a:xfrm>
            <a:off x="8266176" y="2423160"/>
            <a:ext cx="2999232" cy="2377440"/>
          </a:xfrm>
          <a:prstGeom prst="rect">
            <a:avLst/>
          </a:prstGeom>
          <a:noFill/>
        </p:spPr>
        <p:txBody>
          <a:bodyPr wrap="square">
            <a:spAutoFit/>
          </a:bodyPr>
          <a:lstStyle/>
          <a:p>
            <a:pPr>
              <a:spcAft>
                <a:spcPts val="500"/>
              </a:spcAft>
              <a:defRPr sz="1100">
                <a:solidFill>
                  <a:srgbClr val="64748B"/>
                </a:solidFill>
              </a:defRPr>
            </a:pPr>
            <a:r>
              <a:t>• Karmaşıklığı çağıran kod değil, modülün kendisi saklamalıdır.</a:t>
            </a:r>
          </a:p>
          <a:p>
            <a:pPr>
              <a:spcAft>
                <a:spcPts val="500"/>
              </a:spcAft>
              <a:defRPr sz="1100">
                <a:solidFill>
                  <a:srgbClr val="64748B"/>
                </a:solidFill>
              </a:defRPr>
            </a:pPr>
            <a:r>
              <a:t>• 9 katmanlı mimari ile API uçlarındaki sıkı bağımlılıklar çözüldü.</a:t>
            </a:r>
          </a:p>
          <a:p>
            <a:pPr>
              <a:spcAft>
                <a:spcPts val="500"/>
              </a:spcAft>
              <a:defRPr sz="1100">
                <a:solidFill>
                  <a:srgbClr val="64748B"/>
                </a:solidFill>
              </a:defRPr>
            </a:pPr>
            <a:r>
              <a:t>• Ancak paralel iki backend'in şema senkronizasyon maliyeti fark edildi.</a:t>
            </a:r>
          </a:p>
        </p:txBody>
      </p:sp>
      <p:sp>
        <p:nvSpPr>
          <p:cNvPr id="18" name="Rounded Rectangle 17"/>
          <p:cNvSpPr/>
          <p:nvPr/>
        </p:nvSpPr>
        <p:spPr>
          <a:xfrm>
            <a:off x="731520" y="5212080"/>
            <a:ext cx="10728655" cy="11887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49240"/>
            <a:ext cx="10180015" cy="914400"/>
          </a:xfrm>
          <a:prstGeom prst="rect">
            <a:avLst/>
          </a:prstGeom>
          <a:noFill/>
        </p:spPr>
        <p:txBody>
          <a:bodyPr wrap="square">
            <a:spAutoFit/>
          </a:bodyPr>
          <a:lstStyle/>
          <a:p>
            <a:pPr>
              <a:defRPr sz="1300" i="1">
                <a:solidFill>
                  <a:srgbClr val="E0F2FE"/>
                </a:solidFill>
              </a:defRPr>
            </a:pPr>
            <a:r>
              <a:t>"TOPSIS karar modeli ve 3D KNN arama motoru, sosyal tesis verilerini salt bir harita gösterimi olmaktan çıkarıp aktif bir karar destek sistemine dönüştürdü."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