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731520"/>
            <a:ext cx="137160" cy="16459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685800"/>
            <a:ext cx="7315200" cy="365760"/>
          </a:xfrm>
          <a:prstGeom prst="rect">
            <a:avLst/>
          </a:prstGeom>
          <a:noFill/>
        </p:spPr>
        <p:txBody>
          <a:bodyPr wrap="none">
            <a:spAutoFit/>
          </a:bodyPr>
          <a:lstStyle/>
          <a:p>
            <a:pPr>
              <a:defRPr sz="1200" b="1">
                <a:solidFill>
                  <a:srgbClr val="0EA5E9"/>
                </a:solidFill>
              </a:defRPr>
            </a:pPr>
            <a:r>
              <a:t>NETCAD YAZILIM A.Ş. | TEKNOLOJİ ÇÖZÜMLERİ DEPARTMANI — 1. HAFTA</a:t>
            </a:r>
          </a:p>
        </p:txBody>
      </p:sp>
      <p:sp>
        <p:nvSpPr>
          <p:cNvPr id="5" name="TextBox 4"/>
          <p:cNvSpPr txBox="1"/>
          <p:nvPr/>
        </p:nvSpPr>
        <p:spPr>
          <a:xfrm>
            <a:off x="1188720" y="1051560"/>
            <a:ext cx="9601200" cy="1188720"/>
          </a:xfrm>
          <a:prstGeom prst="rect">
            <a:avLst/>
          </a:prstGeom>
          <a:noFill/>
        </p:spPr>
        <p:txBody>
          <a:bodyPr wrap="square">
            <a:spAutoFit/>
          </a:bodyPr>
          <a:lstStyle/>
          <a:p>
            <a:pPr>
              <a:defRPr sz="3200" b="1">
                <a:solidFill>
                  <a:srgbClr val="F8FAFC"/>
                </a:solidFill>
              </a:defRPr>
            </a:pPr>
            <a:r>
              <a:t>Oryantasyon, CBS Altyapısı ve SQL Sorgu Temelleri</a:t>
            </a:r>
          </a:p>
        </p:txBody>
      </p:sp>
      <p:sp>
        <p:nvSpPr>
          <p:cNvPr id="6" name="TextBox 5"/>
          <p:cNvSpPr txBox="1"/>
          <p:nvPr/>
        </p:nvSpPr>
        <p:spPr>
          <a:xfrm>
            <a:off x="1188720" y="2286000"/>
            <a:ext cx="9601200" cy="548640"/>
          </a:xfrm>
          <a:prstGeom prst="rect">
            <a:avLst/>
          </a:prstGeom>
          <a:noFill/>
        </p:spPr>
        <p:txBody>
          <a:bodyPr wrap="none">
            <a:spAutoFit/>
          </a:bodyPr>
          <a:lstStyle/>
          <a:p>
            <a:pPr>
              <a:defRPr sz="1600">
                <a:solidFill>
                  <a:srgbClr val="64748B"/>
                </a:solidFill>
              </a:defRPr>
            </a:pPr>
            <a:r>
              <a:t>🗓️ 15 – 19 Haziran 2026   |   Veritabanı Mimarisi, Normalizasyon, PostGIS &amp; QGIS Mekansal Analiz</a:t>
            </a:r>
          </a:p>
        </p:txBody>
      </p:sp>
      <p:sp>
        <p:nvSpPr>
          <p:cNvPr id="7" name="Rounded Rectangle 6"/>
          <p:cNvSpPr/>
          <p:nvPr/>
        </p:nvSpPr>
        <p:spPr>
          <a:xfrm>
            <a:off x="91440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383280"/>
            <a:ext cx="2788920" cy="548640"/>
          </a:xfrm>
          <a:prstGeom prst="rect">
            <a:avLst/>
          </a:prstGeom>
          <a:noFill/>
        </p:spPr>
        <p:txBody>
          <a:bodyPr wrap="square">
            <a:spAutoFit/>
          </a:bodyPr>
          <a:lstStyle/>
          <a:p>
            <a:pPr>
              <a:defRPr sz="1500" b="1">
                <a:solidFill>
                  <a:srgbClr val="0EA5E9"/>
                </a:solidFill>
              </a:defRPr>
            </a:pPr>
            <a:r>
              <a:t>Kurumsal Oryantasyon &amp; SQL</a:t>
            </a:r>
          </a:p>
        </p:txBody>
      </p:sp>
      <p:sp>
        <p:nvSpPr>
          <p:cNvPr id="9" name="TextBox 8"/>
          <p:cNvSpPr txBox="1"/>
          <p:nvPr/>
        </p:nvSpPr>
        <p:spPr>
          <a:xfrm>
            <a:off x="1097280" y="3977640"/>
            <a:ext cx="2788920" cy="2011680"/>
          </a:xfrm>
          <a:prstGeom prst="rect">
            <a:avLst/>
          </a:prstGeom>
          <a:noFill/>
        </p:spPr>
        <p:txBody>
          <a:bodyPr wrap="square">
            <a:spAutoFit/>
          </a:bodyPr>
          <a:lstStyle/>
          <a:p>
            <a:pPr>
              <a:spcAft>
                <a:spcPts val="600"/>
              </a:spcAft>
              <a:defRPr sz="1200">
                <a:solidFill>
                  <a:srgbClr val="E2E8F0"/>
                </a:solidFill>
              </a:defRPr>
            </a:pPr>
            <a:r>
              <a:t>• Netigma CBS framework oryantasyonu</a:t>
            </a:r>
          </a:p>
          <a:p>
            <a:pPr>
              <a:spcAft>
                <a:spcPts val="600"/>
              </a:spcAft>
              <a:defRPr sz="1200">
                <a:solidFill>
                  <a:srgbClr val="E2E8F0"/>
                </a:solidFill>
              </a:defRPr>
            </a:pPr>
            <a:r>
              <a:t>• PostgreSQL temel sorgulama mekaniği</a:t>
            </a:r>
          </a:p>
          <a:p>
            <a:pPr>
              <a:spcAft>
                <a:spcPts val="600"/>
              </a:spcAft>
              <a:defRPr sz="1200">
                <a:solidFill>
                  <a:srgbClr val="E2E8F0"/>
                </a:solidFill>
              </a:defRPr>
            </a:pPr>
            <a:r>
              <a:t>• FROM -&gt; WHERE -&gt; SELECT yürütme sırası</a:t>
            </a:r>
          </a:p>
          <a:p>
            <a:pPr>
              <a:spcAft>
                <a:spcPts val="600"/>
              </a:spcAft>
              <a:defRPr sz="1200">
                <a:solidFill>
                  <a:srgbClr val="E2E8F0"/>
                </a:solidFill>
              </a:defRPr>
            </a:pPr>
            <a:r>
              <a:t>• Modern JavaScript (ES6+) ve CSS Box Model</a:t>
            </a:r>
          </a:p>
        </p:txBody>
      </p:sp>
      <p:sp>
        <p:nvSpPr>
          <p:cNvPr id="10" name="Rounded Rectangle 9"/>
          <p:cNvSpPr/>
          <p:nvPr/>
        </p:nvSpPr>
        <p:spPr>
          <a:xfrm>
            <a:off x="438912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383280"/>
            <a:ext cx="2788920" cy="548640"/>
          </a:xfrm>
          <a:prstGeom prst="rect">
            <a:avLst/>
          </a:prstGeom>
          <a:noFill/>
        </p:spPr>
        <p:txBody>
          <a:bodyPr wrap="square">
            <a:spAutoFit/>
          </a:bodyPr>
          <a:lstStyle/>
          <a:p>
            <a:pPr>
              <a:defRPr sz="1500" b="1">
                <a:solidFill>
                  <a:srgbClr val="0EA5E9"/>
                </a:solidFill>
              </a:defRPr>
            </a:pPr>
            <a:r>
              <a:t>İlişkisel Şema &amp; Normalizasyon</a:t>
            </a:r>
          </a:p>
        </p:txBody>
      </p:sp>
      <p:sp>
        <p:nvSpPr>
          <p:cNvPr id="12" name="TextBox 11"/>
          <p:cNvSpPr txBox="1"/>
          <p:nvPr/>
        </p:nvSpPr>
        <p:spPr>
          <a:xfrm>
            <a:off x="4572000" y="3977640"/>
            <a:ext cx="2788920" cy="2011680"/>
          </a:xfrm>
          <a:prstGeom prst="rect">
            <a:avLst/>
          </a:prstGeom>
          <a:noFill/>
        </p:spPr>
        <p:txBody>
          <a:bodyPr wrap="square">
            <a:spAutoFit/>
          </a:bodyPr>
          <a:lstStyle/>
          <a:p>
            <a:pPr>
              <a:spcAft>
                <a:spcPts val="600"/>
              </a:spcAft>
              <a:defRPr sz="1200">
                <a:solidFill>
                  <a:srgbClr val="E2E8F0"/>
                </a:solidFill>
              </a:defRPr>
            </a:pPr>
            <a:r>
              <a:t>• 1NF, 2NF ve 3NF normalizasyon prensipleri</a:t>
            </a:r>
          </a:p>
          <a:p>
            <a:pPr>
              <a:spcAft>
                <a:spcPts val="600"/>
              </a:spcAft>
              <a:defRPr sz="1200">
                <a:solidFill>
                  <a:srgbClr val="E2E8F0"/>
                </a:solidFill>
              </a:defRPr>
            </a:pPr>
            <a:r>
              <a:t>• FOREIGN KEY &amp; ON DELETE CASCADE kuralları</a:t>
            </a:r>
          </a:p>
          <a:p>
            <a:pPr>
              <a:spcAft>
                <a:spcPts val="600"/>
              </a:spcAft>
              <a:defRPr sz="1200">
                <a:solidFill>
                  <a:srgbClr val="E2E8F0"/>
                </a:solidFill>
              </a:defRPr>
            </a:pPr>
            <a:r>
              <a:t>• INNER vs LEFT vs RIGHT JOIN farkları</a:t>
            </a:r>
          </a:p>
          <a:p>
            <a:pPr>
              <a:spcAft>
                <a:spcPts val="600"/>
              </a:spcAft>
              <a:defRPr sz="1200">
                <a:solidFill>
                  <a:srgbClr val="E2E8F0"/>
                </a:solidFill>
              </a:defRPr>
            </a:pPr>
            <a:r>
              <a:t>• ER Diyagramından SQL DDL üretimi</a:t>
            </a:r>
          </a:p>
        </p:txBody>
      </p:sp>
      <p:sp>
        <p:nvSpPr>
          <p:cNvPr id="13" name="Rounded Rectangle 12"/>
          <p:cNvSpPr/>
          <p:nvPr/>
        </p:nvSpPr>
        <p:spPr>
          <a:xfrm>
            <a:off x="7863840" y="3200400"/>
            <a:ext cx="3154680" cy="29260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3383280"/>
            <a:ext cx="2788920" cy="548640"/>
          </a:xfrm>
          <a:prstGeom prst="rect">
            <a:avLst/>
          </a:prstGeom>
          <a:noFill/>
        </p:spPr>
        <p:txBody>
          <a:bodyPr wrap="square">
            <a:spAutoFit/>
          </a:bodyPr>
          <a:lstStyle/>
          <a:p>
            <a:pPr>
              <a:defRPr sz="1500" b="1">
                <a:solidFill>
                  <a:srgbClr val="0EA5E9"/>
                </a:solidFill>
              </a:defRPr>
            </a:pPr>
            <a:r>
              <a:t>Mekansal ETL &amp; PostGIS</a:t>
            </a:r>
          </a:p>
        </p:txBody>
      </p:sp>
      <p:sp>
        <p:nvSpPr>
          <p:cNvPr id="15" name="TextBox 14"/>
          <p:cNvSpPr txBox="1"/>
          <p:nvPr/>
        </p:nvSpPr>
        <p:spPr>
          <a:xfrm>
            <a:off x="8046720" y="3977640"/>
            <a:ext cx="2788920" cy="2011680"/>
          </a:xfrm>
          <a:prstGeom prst="rect">
            <a:avLst/>
          </a:prstGeom>
          <a:noFill/>
        </p:spPr>
        <p:txBody>
          <a:bodyPr wrap="square">
            <a:spAutoFit/>
          </a:bodyPr>
          <a:lstStyle/>
          <a:p>
            <a:pPr>
              <a:spcAft>
                <a:spcPts val="600"/>
              </a:spcAft>
              <a:defRPr sz="1200">
                <a:solidFill>
                  <a:srgbClr val="E2E8F0"/>
                </a:solidFill>
              </a:defRPr>
            </a:pPr>
            <a:r>
              <a:t>• İBB Sosyal Tesis Excel verisinin temizlenmesi</a:t>
            </a:r>
          </a:p>
          <a:p>
            <a:pPr>
              <a:spcAft>
                <a:spcPts val="600"/>
              </a:spcAft>
              <a:defRPr sz="1200">
                <a:solidFill>
                  <a:srgbClr val="E2E8F0"/>
                </a:solidFill>
              </a:defRPr>
            </a:pPr>
            <a:r>
              <a:t>• EPSG:4326 WGS84 Point koordinat üretimi</a:t>
            </a:r>
          </a:p>
          <a:p>
            <a:pPr>
              <a:spcAft>
                <a:spcPts val="600"/>
              </a:spcAft>
              <a:defRPr sz="1200">
                <a:solidFill>
                  <a:srgbClr val="E2E8F0"/>
                </a:solidFill>
              </a:defRPr>
            </a:pPr>
            <a:r>
              <a:t>• Overpass Turbo 39 ilçe poligonu aktarımı</a:t>
            </a:r>
          </a:p>
          <a:p>
            <a:pPr>
              <a:spcAft>
                <a:spcPts val="600"/>
              </a:spcAft>
              <a:defRPr sz="1200">
                <a:solidFill>
                  <a:srgbClr val="E2E8F0"/>
                </a:solidFill>
              </a:defRPr>
            </a:pPr>
            <a:r>
              <a:t>• QGIS Spatial Join (Point-in-Polygon)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1. HAFTA (15-19 HAZIRAN 2026)  •  İŞ GÜNÜ DÖKÜMÜ</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Haftalık Gün Gün Kazanımlar ve Uygulama Detayları</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19072"/>
            <a:ext cx="1999427" cy="548640"/>
          </a:xfrm>
          <a:prstGeom prst="rect">
            <a:avLst/>
          </a:prstGeom>
          <a:noFill/>
        </p:spPr>
        <p:txBody>
          <a:bodyPr wrap="none">
            <a:spAutoFit/>
          </a:bodyPr>
          <a:lstStyle/>
          <a:p>
            <a:pPr algn="ctr">
              <a:defRPr sz="1200" b="1">
                <a:solidFill>
                  <a:srgbClr val="F8FAFC"/>
                </a:solidFill>
              </a:defRPr>
            </a:pPr>
            <a:r>
              <a:t>1. Gün (15/06)</a:t>
            </a:r>
          </a:p>
        </p:txBody>
      </p:sp>
      <p:sp>
        <p:nvSpPr>
          <p:cNvPr id="9" name="TextBox 8"/>
          <p:cNvSpPr txBox="1"/>
          <p:nvPr/>
        </p:nvSpPr>
        <p:spPr>
          <a:xfrm>
            <a:off x="841248" y="2331720"/>
            <a:ext cx="1779971" cy="640080"/>
          </a:xfrm>
          <a:prstGeom prst="rect">
            <a:avLst/>
          </a:prstGeom>
          <a:noFill/>
        </p:spPr>
        <p:txBody>
          <a:bodyPr wrap="square">
            <a:spAutoFit/>
          </a:bodyPr>
          <a:lstStyle/>
          <a:p>
            <a:pPr>
              <a:defRPr sz="1100" b="1">
                <a:solidFill>
                  <a:srgbClr val="0F172A"/>
                </a:solidFill>
              </a:defRPr>
            </a:pPr>
            <a:r>
              <a:t>Kurumsal Oryantasyon &amp; Web Temelleri</a:t>
            </a:r>
          </a:p>
        </p:txBody>
      </p:sp>
      <p:sp>
        <p:nvSpPr>
          <p:cNvPr id="10" name="TextBox 9"/>
          <p:cNvSpPr txBox="1"/>
          <p:nvPr/>
        </p:nvSpPr>
        <p:spPr>
          <a:xfrm>
            <a:off x="822960" y="3017520"/>
            <a:ext cx="1816547" cy="3200400"/>
          </a:xfrm>
          <a:prstGeom prst="rect">
            <a:avLst/>
          </a:prstGeom>
          <a:noFill/>
        </p:spPr>
        <p:txBody>
          <a:bodyPr wrap="square">
            <a:spAutoFit/>
          </a:bodyPr>
          <a:lstStyle/>
          <a:p>
            <a:pPr>
              <a:spcAft>
                <a:spcPts val="400"/>
              </a:spcAft>
              <a:defRPr sz="1000">
                <a:solidFill>
                  <a:srgbClr val="64748B"/>
                </a:solidFill>
              </a:defRPr>
            </a:pPr>
            <a:r>
              <a:t>• Netigma framework 3 saatlik eğitim videosu tamamlandı.</a:t>
            </a:r>
          </a:p>
          <a:p>
            <a:pPr>
              <a:spcAft>
                <a:spcPts val="400"/>
              </a:spcAft>
              <a:defRPr sz="1000">
                <a:solidFill>
                  <a:srgbClr val="64748B"/>
                </a:solidFill>
              </a:defRPr>
            </a:pPr>
            <a:r>
              <a:t>• PostgreSQL SELECT, WHERE, ORDER BY, LIKE filtreleme pratikleri.</a:t>
            </a:r>
          </a:p>
          <a:p>
            <a:pPr>
              <a:spcAft>
                <a:spcPts val="400"/>
              </a:spcAft>
              <a:defRPr sz="1000">
                <a:solidFill>
                  <a:srgbClr val="64748B"/>
                </a:solidFill>
              </a:defRPr>
            </a:pPr>
            <a:r>
              <a:t>• Sorgu yazılış sırası ile veritabanı motoru işleme sırası farkı.</a:t>
            </a:r>
          </a:p>
          <a:p>
            <a:pPr>
              <a:spcAft>
                <a:spcPts val="400"/>
              </a:spcAft>
              <a:defRPr sz="1000">
                <a:solidFill>
                  <a:srgbClr val="64748B"/>
                </a:solidFill>
              </a:defRPr>
            </a:pPr>
            <a:r>
              <a:t>• CSS box-sizing: border-box ve position (absolute/fixed) demoları.</a:t>
            </a:r>
          </a:p>
        </p:txBody>
      </p:sp>
      <p:sp>
        <p:nvSpPr>
          <p:cNvPr id="11" name="Rounded Rectangle 10"/>
          <p:cNvSpPr/>
          <p:nvPr/>
        </p:nvSpPr>
        <p:spPr>
          <a:xfrm>
            <a:off x="2913827"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13827" y="1645920"/>
            <a:ext cx="1999427" cy="6400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13827" y="1719072"/>
            <a:ext cx="1999427" cy="548640"/>
          </a:xfrm>
          <a:prstGeom prst="rect">
            <a:avLst/>
          </a:prstGeom>
          <a:noFill/>
        </p:spPr>
        <p:txBody>
          <a:bodyPr wrap="none">
            <a:spAutoFit/>
          </a:bodyPr>
          <a:lstStyle/>
          <a:p>
            <a:pPr algn="ctr">
              <a:defRPr sz="1200" b="1">
                <a:solidFill>
                  <a:srgbClr val="F8FAFC"/>
                </a:solidFill>
              </a:defRPr>
            </a:pPr>
            <a:r>
              <a:t>2. Gün (16/06)</a:t>
            </a:r>
          </a:p>
        </p:txBody>
      </p:sp>
      <p:sp>
        <p:nvSpPr>
          <p:cNvPr id="14" name="TextBox 13"/>
          <p:cNvSpPr txBox="1"/>
          <p:nvPr/>
        </p:nvSpPr>
        <p:spPr>
          <a:xfrm>
            <a:off x="3023555" y="2331720"/>
            <a:ext cx="1779971" cy="640080"/>
          </a:xfrm>
          <a:prstGeom prst="rect">
            <a:avLst/>
          </a:prstGeom>
          <a:noFill/>
        </p:spPr>
        <p:txBody>
          <a:bodyPr wrap="square">
            <a:spAutoFit/>
          </a:bodyPr>
          <a:lstStyle/>
          <a:p>
            <a:pPr>
              <a:defRPr sz="1100" b="1">
                <a:solidFill>
                  <a:srgbClr val="0F172A"/>
                </a:solidFill>
              </a:defRPr>
            </a:pPr>
            <a:r>
              <a:t>İlişkisel Tasarım &amp; Normalizasyon</a:t>
            </a:r>
          </a:p>
        </p:txBody>
      </p:sp>
      <p:sp>
        <p:nvSpPr>
          <p:cNvPr id="15" name="TextBox 14"/>
          <p:cNvSpPr txBox="1"/>
          <p:nvPr/>
        </p:nvSpPr>
        <p:spPr>
          <a:xfrm>
            <a:off x="3005267" y="3017520"/>
            <a:ext cx="1816547" cy="3200400"/>
          </a:xfrm>
          <a:prstGeom prst="rect">
            <a:avLst/>
          </a:prstGeom>
          <a:noFill/>
        </p:spPr>
        <p:txBody>
          <a:bodyPr wrap="square">
            <a:spAutoFit/>
          </a:bodyPr>
          <a:lstStyle/>
          <a:p>
            <a:pPr>
              <a:spcAft>
                <a:spcPts val="400"/>
              </a:spcAft>
              <a:defRPr sz="1000">
                <a:solidFill>
                  <a:srgbClr val="64748B"/>
                </a:solidFill>
              </a:defRPr>
            </a:pPr>
            <a:r>
              <a:t>• CS50 SQL Querying, Relating, Designing modülleri.</a:t>
            </a:r>
          </a:p>
          <a:p>
            <a:pPr>
              <a:spcAft>
                <a:spcPts val="400"/>
              </a:spcAft>
              <a:defRPr sz="1000">
                <a:solidFill>
                  <a:srgbClr val="64748B"/>
                </a:solidFill>
              </a:defRPr>
            </a:pPr>
            <a:r>
              <a:t>• 1NF (atomiklik), 2NF (kısmi bağımlılık), 3NF (geçişli bağımlılık).</a:t>
            </a:r>
          </a:p>
          <a:p>
            <a:pPr>
              <a:spcAft>
                <a:spcPts val="400"/>
              </a:spcAft>
              <a:defRPr sz="1000">
                <a:solidFill>
                  <a:srgbClr val="64748B"/>
                </a:solidFill>
              </a:defRPr>
            </a:pPr>
            <a:r>
              <a:t>• FOREIGN KEY kısıtlamaları ve CASCADE silme riskleri.</a:t>
            </a:r>
          </a:p>
          <a:p>
            <a:pPr>
              <a:spcAft>
                <a:spcPts val="400"/>
              </a:spcAft>
              <a:defRPr sz="1000">
                <a:solidFill>
                  <a:srgbClr val="64748B"/>
                </a:solidFill>
              </a:defRPr>
            </a:pPr>
            <a:r>
              <a:t>• ER Diyagramı tasarımı ve SQL tablolarına dönüştürülmesi.</a:t>
            </a:r>
          </a:p>
        </p:txBody>
      </p:sp>
      <p:sp>
        <p:nvSpPr>
          <p:cNvPr id="16" name="Rounded Rectangle 15"/>
          <p:cNvSpPr/>
          <p:nvPr/>
        </p:nvSpPr>
        <p:spPr>
          <a:xfrm>
            <a:off x="5096134"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96134"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96134" y="1719072"/>
            <a:ext cx="1999427" cy="548640"/>
          </a:xfrm>
          <a:prstGeom prst="rect">
            <a:avLst/>
          </a:prstGeom>
          <a:noFill/>
        </p:spPr>
        <p:txBody>
          <a:bodyPr wrap="none">
            <a:spAutoFit/>
          </a:bodyPr>
          <a:lstStyle/>
          <a:p>
            <a:pPr algn="ctr">
              <a:defRPr sz="1200" b="1">
                <a:solidFill>
                  <a:srgbClr val="F8FAFC"/>
                </a:solidFill>
              </a:defRPr>
            </a:pPr>
            <a:r>
              <a:t>3. Gün (17/06)</a:t>
            </a:r>
          </a:p>
        </p:txBody>
      </p:sp>
      <p:sp>
        <p:nvSpPr>
          <p:cNvPr id="19" name="TextBox 18"/>
          <p:cNvSpPr txBox="1"/>
          <p:nvPr/>
        </p:nvSpPr>
        <p:spPr>
          <a:xfrm>
            <a:off x="5205862" y="2331720"/>
            <a:ext cx="1779971" cy="640080"/>
          </a:xfrm>
          <a:prstGeom prst="rect">
            <a:avLst/>
          </a:prstGeom>
          <a:noFill/>
        </p:spPr>
        <p:txBody>
          <a:bodyPr wrap="square">
            <a:spAutoFit/>
          </a:bodyPr>
          <a:lstStyle/>
          <a:p>
            <a:pPr>
              <a:defRPr sz="1100" b="1">
                <a:solidFill>
                  <a:srgbClr val="0F172A"/>
                </a:solidFill>
              </a:defRPr>
            </a:pPr>
            <a:r>
              <a:t>Problem Çözümleri &amp; Web Arayüzü</a:t>
            </a:r>
          </a:p>
        </p:txBody>
      </p:sp>
      <p:sp>
        <p:nvSpPr>
          <p:cNvPr id="20" name="TextBox 19"/>
          <p:cNvSpPr txBox="1"/>
          <p:nvPr/>
        </p:nvSpPr>
        <p:spPr>
          <a:xfrm>
            <a:off x="5187574" y="3017520"/>
            <a:ext cx="1816547" cy="3200400"/>
          </a:xfrm>
          <a:prstGeom prst="rect">
            <a:avLst/>
          </a:prstGeom>
          <a:noFill/>
        </p:spPr>
        <p:txBody>
          <a:bodyPr wrap="square">
            <a:spAutoFit/>
          </a:bodyPr>
          <a:lstStyle/>
          <a:p>
            <a:pPr>
              <a:spcAft>
                <a:spcPts val="400"/>
              </a:spcAft>
              <a:defRPr sz="1000">
                <a:solidFill>
                  <a:srgbClr val="64748B"/>
                </a:solidFill>
              </a:defRPr>
            </a:pPr>
            <a:r>
              <a:t>• CS50 SQL Cyberchase problem setinde 12 SQL sorgusu çözüldü.</a:t>
            </a:r>
          </a:p>
          <a:p>
            <a:pPr>
              <a:spcAft>
                <a:spcPts val="400"/>
              </a:spcAft>
              <a:defRPr sz="1000">
                <a:solidFill>
                  <a:srgbClr val="64748B"/>
                </a:solidFill>
              </a:defRPr>
            </a:pPr>
            <a:r>
              <a:t>• INSERT, UPDATE, DELETE operasyonları ve Soft Delete standardı.</a:t>
            </a:r>
          </a:p>
          <a:p>
            <a:pPr>
              <a:spcAft>
                <a:spcPts val="400"/>
              </a:spcAft>
              <a:defRPr sz="1000">
                <a:solidFill>
                  <a:srgbClr val="64748B"/>
                </a:solidFill>
              </a:defRPr>
            </a:pPr>
            <a:r>
              <a:t>• Tarihsel denetim izi için soft-delete'in gerçek dünyadaki rolü.</a:t>
            </a:r>
          </a:p>
          <a:p>
            <a:pPr>
              <a:spcAft>
                <a:spcPts val="400"/>
              </a:spcAft>
              <a:defRPr sz="1000">
                <a:solidFill>
                  <a:srgbClr val="64748B"/>
                </a:solidFill>
              </a:defRPr>
            </a:pPr>
            <a:r>
              <a:t>• CS50 Web HTML5 formları, div iskeleti ve DOM ağaç hiyerarşisi.</a:t>
            </a:r>
          </a:p>
        </p:txBody>
      </p:sp>
      <p:sp>
        <p:nvSpPr>
          <p:cNvPr id="21" name="Rounded Rectangle 20"/>
          <p:cNvSpPr/>
          <p:nvPr/>
        </p:nvSpPr>
        <p:spPr>
          <a:xfrm>
            <a:off x="7278441"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78441" y="1645920"/>
            <a:ext cx="1999427" cy="64008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78441" y="1719072"/>
            <a:ext cx="1999427" cy="548640"/>
          </a:xfrm>
          <a:prstGeom prst="rect">
            <a:avLst/>
          </a:prstGeom>
          <a:noFill/>
        </p:spPr>
        <p:txBody>
          <a:bodyPr wrap="none">
            <a:spAutoFit/>
          </a:bodyPr>
          <a:lstStyle/>
          <a:p>
            <a:pPr algn="ctr">
              <a:defRPr sz="1200" b="1">
                <a:solidFill>
                  <a:srgbClr val="F8FAFC"/>
                </a:solidFill>
              </a:defRPr>
            </a:pPr>
            <a:r>
              <a:t>4. Gün (18/06)</a:t>
            </a:r>
          </a:p>
        </p:txBody>
      </p:sp>
      <p:sp>
        <p:nvSpPr>
          <p:cNvPr id="24" name="TextBox 23"/>
          <p:cNvSpPr txBox="1"/>
          <p:nvPr/>
        </p:nvSpPr>
        <p:spPr>
          <a:xfrm>
            <a:off x="7388169" y="2331720"/>
            <a:ext cx="1779971" cy="640080"/>
          </a:xfrm>
          <a:prstGeom prst="rect">
            <a:avLst/>
          </a:prstGeom>
          <a:noFill/>
        </p:spPr>
        <p:txBody>
          <a:bodyPr wrap="square">
            <a:spAutoFit/>
          </a:bodyPr>
          <a:lstStyle/>
          <a:p>
            <a:pPr>
              <a:defRPr sz="1100" b="1">
                <a:solidFill>
                  <a:srgbClr val="0F172A"/>
                </a:solidFill>
              </a:defRPr>
            </a:pPr>
            <a:r>
              <a:t>Spatial ETL, PostGIS &amp; QGIS</a:t>
            </a:r>
          </a:p>
        </p:txBody>
      </p:sp>
      <p:sp>
        <p:nvSpPr>
          <p:cNvPr id="25" name="TextBox 24"/>
          <p:cNvSpPr txBox="1"/>
          <p:nvPr/>
        </p:nvSpPr>
        <p:spPr>
          <a:xfrm>
            <a:off x="7369881" y="3017520"/>
            <a:ext cx="1816547" cy="3200400"/>
          </a:xfrm>
          <a:prstGeom prst="rect">
            <a:avLst/>
          </a:prstGeom>
          <a:noFill/>
        </p:spPr>
        <p:txBody>
          <a:bodyPr wrap="square">
            <a:spAutoFit/>
          </a:bodyPr>
          <a:lstStyle/>
          <a:p>
            <a:pPr>
              <a:spcAft>
                <a:spcPts val="400"/>
              </a:spcAft>
              <a:defRPr sz="1000">
                <a:solidFill>
                  <a:srgbClr val="64748B"/>
                </a:solidFill>
              </a:defRPr>
            </a:pPr>
            <a:r>
              <a:t>• DBeaver, PostGIS ve QGIS mühendislik araçları kuruldu.</a:t>
            </a:r>
          </a:p>
          <a:p>
            <a:pPr>
              <a:spcAft>
                <a:spcPts val="400"/>
              </a:spcAft>
              <a:defRPr sz="1000">
                <a:solidFill>
                  <a:srgbClr val="64748B"/>
                </a:solidFill>
              </a:defRPr>
            </a:pPr>
            <a:r>
              <a:t>• İBB Sosyal Tesis Excel verisi UTF-8 CSV'ye temizlendi.</a:t>
            </a:r>
          </a:p>
          <a:p>
            <a:pPr>
              <a:spcAft>
                <a:spcPts val="400"/>
              </a:spcAft>
              <a:defRPr sz="1000">
                <a:solidFill>
                  <a:srgbClr val="64748B"/>
                </a:solidFill>
              </a:defRPr>
            </a:pPr>
            <a:r>
              <a:t>• ST_SetSRID(ST_MakePoint(lng, lat), 4326) geom Point üretimi.</a:t>
            </a:r>
          </a:p>
          <a:p>
            <a:pPr>
              <a:spcAft>
                <a:spcPts val="400"/>
              </a:spcAft>
              <a:defRPr sz="1000">
                <a:solidFill>
                  <a:srgbClr val="64748B"/>
                </a:solidFill>
              </a:defRPr>
            </a:pPr>
            <a:r>
              <a:t>• Overpass Turbo 39 ilçe poligonu ile QGIS Spatial Join analizi.</a:t>
            </a:r>
          </a:p>
        </p:txBody>
      </p:sp>
      <p:sp>
        <p:nvSpPr>
          <p:cNvPr id="26" name="Rounded Rectangle 25"/>
          <p:cNvSpPr/>
          <p:nvPr/>
        </p:nvSpPr>
        <p:spPr>
          <a:xfrm>
            <a:off x="9460748" y="1645920"/>
            <a:ext cx="1999427" cy="46634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60748" y="1645920"/>
            <a:ext cx="1999427" cy="640080"/>
          </a:xfrm>
          <a:prstGeom prst="round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60748" y="1719072"/>
            <a:ext cx="1999427" cy="548640"/>
          </a:xfrm>
          <a:prstGeom prst="rect">
            <a:avLst/>
          </a:prstGeom>
          <a:noFill/>
        </p:spPr>
        <p:txBody>
          <a:bodyPr wrap="none">
            <a:spAutoFit/>
          </a:bodyPr>
          <a:lstStyle/>
          <a:p>
            <a:pPr algn="ctr">
              <a:defRPr sz="1200" b="1">
                <a:solidFill>
                  <a:srgbClr val="F8FAFC"/>
                </a:solidFill>
              </a:defRPr>
            </a:pPr>
            <a:r>
              <a:t>5. Gün (19/06)</a:t>
            </a:r>
          </a:p>
        </p:txBody>
      </p:sp>
      <p:sp>
        <p:nvSpPr>
          <p:cNvPr id="29" name="TextBox 28"/>
          <p:cNvSpPr txBox="1"/>
          <p:nvPr/>
        </p:nvSpPr>
        <p:spPr>
          <a:xfrm>
            <a:off x="9570476" y="2331720"/>
            <a:ext cx="1779971" cy="640080"/>
          </a:xfrm>
          <a:prstGeom prst="rect">
            <a:avLst/>
          </a:prstGeom>
          <a:noFill/>
        </p:spPr>
        <p:txBody>
          <a:bodyPr wrap="square">
            <a:spAutoFit/>
          </a:bodyPr>
          <a:lstStyle/>
          <a:p>
            <a:pPr>
              <a:defRPr sz="1100" b="1">
                <a:solidFill>
                  <a:srgbClr val="0F172A"/>
                </a:solidFill>
              </a:defRPr>
            </a:pPr>
            <a:r>
              <a:t>Optimizasyon &amp; Uygulamalı SQL</a:t>
            </a:r>
          </a:p>
        </p:txBody>
      </p:sp>
      <p:sp>
        <p:nvSpPr>
          <p:cNvPr id="30" name="TextBox 29"/>
          <p:cNvSpPr txBox="1"/>
          <p:nvPr/>
        </p:nvSpPr>
        <p:spPr>
          <a:xfrm>
            <a:off x="9552188" y="3017520"/>
            <a:ext cx="1816547" cy="3200400"/>
          </a:xfrm>
          <a:prstGeom prst="rect">
            <a:avLst/>
          </a:prstGeom>
          <a:noFill/>
        </p:spPr>
        <p:txBody>
          <a:bodyPr wrap="square">
            <a:spAutoFit/>
          </a:bodyPr>
          <a:lstStyle/>
          <a:p>
            <a:pPr>
              <a:spcAft>
                <a:spcPts val="400"/>
              </a:spcAft>
              <a:defRPr sz="1000">
                <a:solidFill>
                  <a:srgbClr val="64748B"/>
                </a:solidFill>
              </a:defRPr>
            </a:pPr>
            <a:r>
              <a:t>• CS50 SQL Writing, Optimizing ve Scaling modülleri.</a:t>
            </a:r>
          </a:p>
          <a:p>
            <a:pPr>
              <a:spcAft>
                <a:spcPts val="400"/>
              </a:spcAft>
              <a:defRPr sz="1000">
                <a:solidFill>
                  <a:srgbClr val="64748B"/>
                </a:solidFill>
              </a:defRPr>
            </a:pPr>
            <a:r>
              <a:t>• Büyük veride B-Tree indeksleme ve EXPLAIN ANALYZE sorgu planı.</a:t>
            </a:r>
          </a:p>
          <a:p>
            <a:pPr>
              <a:spcAft>
                <a:spcPts val="400"/>
              </a:spcAft>
              <a:defRPr sz="1000">
                <a:solidFill>
                  <a:srgbClr val="64748B"/>
                </a:solidFill>
              </a:defRPr>
            </a:pPr>
            <a:r>
              <a:t>• ACID prensipleri, transaction yönetimi ve SQL Injection önlemleri.</a:t>
            </a:r>
          </a:p>
          <a:p>
            <a:pPr>
              <a:spcAft>
                <a:spcPts val="400"/>
              </a:spcAft>
              <a:defRPr sz="1000">
                <a:solidFill>
                  <a:srgbClr val="64748B"/>
                </a:solidFill>
              </a:defRPr>
            </a:pPr>
            <a:r>
              <a:t>• Harvard 36 Views problem setinde agregasyon ve görüntü metrikleri.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1. HAFTA (15-19 HAZIRAN 2026)  •  TEKNIK MIMARI &amp; İNCELEME</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Mekansal Veri Hazırlığı ve Web GIS Başlangıcı</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548640"/>
          </a:xfrm>
          <a:prstGeom prst="rect">
            <a:avLst/>
          </a:prstGeom>
          <a:noFill/>
        </p:spPr>
        <p:txBody>
          <a:bodyPr wrap="none">
            <a:spAutoFit/>
          </a:bodyPr>
          <a:lstStyle/>
          <a:p>
            <a:pPr>
              <a:defRPr sz="1600" b="1">
                <a:solidFill>
                  <a:srgbClr val="0369A1"/>
                </a:solidFill>
              </a:defRPr>
            </a:pPr>
            <a:r>
              <a:t>Spatial ETL &amp; PostGIS Entegrasyonu</a:t>
            </a:r>
          </a:p>
        </p:txBody>
      </p:sp>
      <p:sp>
        <p:nvSpPr>
          <p:cNvPr id="8" name="TextBox 7"/>
          <p:cNvSpPr txBox="1"/>
          <p:nvPr/>
        </p:nvSpPr>
        <p:spPr>
          <a:xfrm>
            <a:off x="914400" y="2423160"/>
            <a:ext cx="4846320" cy="2560320"/>
          </a:xfrm>
          <a:prstGeom prst="rect">
            <a:avLst/>
          </a:prstGeom>
          <a:noFill/>
        </p:spPr>
        <p:txBody>
          <a:bodyPr wrap="square">
            <a:spAutoFit/>
          </a:bodyPr>
          <a:lstStyle/>
          <a:p>
            <a:pPr>
              <a:spcAft>
                <a:spcPts val="600"/>
              </a:spcAft>
              <a:defRPr sz="1200">
                <a:solidFill>
                  <a:srgbClr val="0F172A"/>
                </a:solidFill>
              </a:defRPr>
            </a:pPr>
            <a:r>
              <a:t>• Ham Veri Ön İşleme: Türkçe karakter bozulmalarını önlemek için Excel verisi UTF-8 CSV'ye aktarıldı; virgül/nokta koordinat hataları SQL CAST manipülasyonuyla düzeltildi.</a:t>
            </a:r>
          </a:p>
          <a:p>
            <a:pPr>
              <a:spcAft>
                <a:spcPts val="600"/>
              </a:spcAft>
              <a:defRPr sz="1200">
                <a:solidFill>
                  <a:srgbClr val="0F172A"/>
                </a:solidFill>
              </a:defRPr>
            </a:pPr>
            <a:r>
              <a:t>• PostGIS Geometri Üretimi: 'CREATE EXTENSION postgis;' ile veritabanına CBS kabiliyeti eklendi; X-Y (Boylam-Enlem) sırasına sadık kalınarak WGS84 (EPSG:4326) Point geometrisi üretildi.</a:t>
            </a:r>
          </a:p>
          <a:p>
            <a:pPr>
              <a:spcAft>
                <a:spcPts val="600"/>
              </a:spcAft>
              <a:defRPr sz="1200">
                <a:solidFill>
                  <a:srgbClr val="0F172A"/>
                </a:solidFill>
              </a:defRPr>
            </a:pPr>
            <a:r>
              <a:t>• QGIS Mekansal Çakıştırma: OpenStreetMap ilçe sınırları ile tesis noktaları Join Attributes by Location algoritmasıyla çakıştırıldı.</a:t>
            </a:r>
          </a:p>
          <a:p>
            <a:pPr>
              <a:spcAft>
                <a:spcPts val="600"/>
              </a:spcAft>
              <a:defRPr sz="1200">
                <a:solidFill>
                  <a:srgbClr val="0F172A"/>
                </a:solidFill>
              </a:defRPr>
            </a:pPr>
            <a:r>
              <a:t>• Within vs Intersects: Sınır çizgisine yakın tesislerde 'içinde' (within) ile 'kesişen' (intersects) operatörlerinin farklı davranabildiği gözlemlendi.</a:t>
            </a:r>
          </a:p>
        </p:txBody>
      </p:sp>
      <p:sp>
        <p:nvSpPr>
          <p:cNvPr id="9" name="Rounded Rectangle 8"/>
          <p:cNvSpPr/>
          <p:nvPr/>
        </p:nvSpPr>
        <p:spPr>
          <a:xfrm>
            <a:off x="6217920" y="1645920"/>
            <a:ext cx="52120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548640"/>
          </a:xfrm>
          <a:prstGeom prst="rect">
            <a:avLst/>
          </a:prstGeom>
          <a:noFill/>
        </p:spPr>
        <p:txBody>
          <a:bodyPr wrap="none">
            <a:spAutoFit/>
          </a:bodyPr>
          <a:lstStyle/>
          <a:p>
            <a:pPr>
              <a:defRPr sz="1600" b="1">
                <a:solidFill>
                  <a:srgbClr val="6366F1"/>
                </a:solidFill>
              </a:defRPr>
            </a:pPr>
            <a:r>
              <a:t>Web GIS Proje İskeleti (Git Reposu)</a:t>
            </a:r>
          </a:p>
        </p:txBody>
      </p:sp>
      <p:sp>
        <p:nvSpPr>
          <p:cNvPr id="11" name="TextBox 10"/>
          <p:cNvSpPr txBox="1"/>
          <p:nvPr/>
        </p:nvSpPr>
        <p:spPr>
          <a:xfrm>
            <a:off x="6400800" y="2423160"/>
            <a:ext cx="4846320" cy="2560320"/>
          </a:xfrm>
          <a:prstGeom prst="rect">
            <a:avLst/>
          </a:prstGeom>
          <a:noFill/>
        </p:spPr>
        <p:txBody>
          <a:bodyPr wrap="square">
            <a:spAutoFit/>
          </a:bodyPr>
          <a:lstStyle/>
          <a:p>
            <a:pPr>
              <a:spcAft>
                <a:spcPts val="600"/>
              </a:spcAft>
              <a:defRPr sz="1200">
                <a:solidFill>
                  <a:srgbClr val="0F172A"/>
                </a:solidFill>
              </a:defRPr>
            </a:pPr>
            <a:r>
              <a:t>• İlk Git Deposu: '6368a41' commit'i ile Web GIS proje altyapısı kuruldu; .gitignore ve README yapılandırıldı.</a:t>
            </a:r>
          </a:p>
          <a:p>
            <a:pPr>
              <a:spcAft>
                <a:spcPts val="600"/>
              </a:spcAft>
              <a:defRPr sz="1200">
                <a:solidFill>
                  <a:srgbClr val="0F172A"/>
                </a:solidFill>
              </a:defRPr>
            </a:pPr>
            <a:r>
              <a:t>• Leaflet.js Entegrasyonu: Harita konteyneri, CartoDB altlık haritaları (açık/koyu tema) ve ilk etkileşimli tesis işaretçileri eklendi.</a:t>
            </a:r>
          </a:p>
          <a:p>
            <a:pPr>
              <a:spcAft>
                <a:spcPts val="600"/>
              </a:spcAft>
              <a:defRPr sz="1200">
                <a:solidFill>
                  <a:srgbClr val="0F172A"/>
                </a:solidFill>
              </a:defRPr>
            </a:pPr>
            <a:r>
              <a:t>• İki Katmanlı Tasarım: HTML5 semantik DOM yapısı ile CSS3 görsel sunum katmanı birbirinden izole edildi.</a:t>
            </a:r>
          </a:p>
          <a:p>
            <a:pPr>
              <a:spcAft>
                <a:spcPts val="600"/>
              </a:spcAft>
              <a:defRPr sz="1200">
                <a:solidFill>
                  <a:srgbClr val="0F172A"/>
                </a:solidFill>
              </a:defRPr>
            </a:pPr>
            <a:r>
              <a:t>• Harici Araçlar: CS50 problem setleri ve QGIS çalışmaları harici eğitim ortamlarında yürütülüp temel yetkinlik kazanıldı.</a:t>
            </a:r>
          </a:p>
        </p:txBody>
      </p:sp>
      <p:sp>
        <p:nvSpPr>
          <p:cNvPr id="12" name="Rounded Rectangle 11"/>
          <p:cNvSpPr/>
          <p:nvPr/>
        </p:nvSpPr>
        <p:spPr>
          <a:xfrm>
            <a:off x="731520" y="5303520"/>
            <a:ext cx="10728655" cy="1097280"/>
          </a:xfrm>
          <a:prstGeom prst="roundRect">
            <a:avLst/>
          </a:prstGeom>
          <a:solidFill>
            <a:srgbClr val="F1F5F9"/>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13248"/>
            <a:ext cx="10362895" cy="320040"/>
          </a:xfrm>
          <a:prstGeom prst="rect">
            <a:avLst/>
          </a:prstGeom>
          <a:noFill/>
        </p:spPr>
        <p:txBody>
          <a:bodyPr wrap="none">
            <a:spAutoFit/>
          </a:bodyPr>
          <a:lstStyle/>
          <a:p>
            <a:pPr>
              <a:defRPr sz="1200" b="1">
                <a:solidFill>
                  <a:srgbClr val="0369A1"/>
                </a:solidFill>
              </a:defRPr>
            </a:pPr>
            <a:r>
              <a:t>💡 Mentör Savunma &amp; Jüri Notu (APoSD &amp; DDIA Yaklaşımı)</a:t>
            </a:r>
          </a:p>
        </p:txBody>
      </p:sp>
      <p:sp>
        <p:nvSpPr>
          <p:cNvPr id="14" name="TextBox 13"/>
          <p:cNvSpPr txBox="1"/>
          <p:nvPr/>
        </p:nvSpPr>
        <p:spPr>
          <a:xfrm>
            <a:off x="914400" y="5715000"/>
            <a:ext cx="10362895" cy="594360"/>
          </a:xfrm>
          <a:prstGeom prst="rect">
            <a:avLst/>
          </a:prstGeom>
          <a:noFill/>
        </p:spPr>
        <p:txBody>
          <a:bodyPr wrap="square">
            <a:spAutoFit/>
          </a:bodyPr>
          <a:lstStyle/>
          <a:p>
            <a:pPr>
              <a:defRPr sz="1100">
                <a:solidFill>
                  <a:srgbClr val="0F172A"/>
                </a:solidFill>
              </a:defRPr>
            </a:pPr>
            <a:r>
              <a:t>Ham veri neredeyse hiçbir zaman doğrudan kullanılamaz. Koordinatların string gelmesi ve format bozuklukları, veri temizliğinin analiz kadar vakit aldığını somut olarak gösterdi. QGIS'te görselleştirilen ilçe sınırları, projenin sonraki aşamalarındaki karar destek modelinin temel girdisini oluşturdu.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none">
            <a:spAutoFit/>
          </a:bodyPr>
          <a:lstStyle/>
          <a:p>
            <a:pPr>
              <a:defRPr sz="1100" b="1">
                <a:solidFill>
                  <a:srgbClr val="0369A1"/>
                </a:solidFill>
              </a:defRPr>
            </a:pPr>
            <a:r>
              <a:t>1. HAFTA (15-19 HAZIRAN 2026)  •  KAZANIMLAR &amp; SAVUNMA</a:t>
            </a:r>
          </a:p>
        </p:txBody>
      </p:sp>
      <p:sp>
        <p:nvSpPr>
          <p:cNvPr id="4" name="TextBox 3"/>
          <p:cNvSpPr txBox="1"/>
          <p:nvPr/>
        </p:nvSpPr>
        <p:spPr>
          <a:xfrm>
            <a:off x="731520" y="685800"/>
            <a:ext cx="10515600" cy="731520"/>
          </a:xfrm>
          <a:prstGeom prst="rect">
            <a:avLst/>
          </a:prstGeom>
          <a:noFill/>
        </p:spPr>
        <p:txBody>
          <a:bodyPr wrap="none">
            <a:spAutoFit/>
          </a:bodyPr>
          <a:lstStyle/>
          <a:p>
            <a:pPr>
              <a:defRPr sz="2400" b="1">
                <a:solidFill>
                  <a:srgbClr val="0F172A"/>
                </a:solidFill>
              </a:defRPr>
            </a:pPr>
            <a:r>
              <a:t>Haftanın Mühendislik Çıkarımları ve Karar Özeti</a:t>
            </a:r>
          </a:p>
        </p:txBody>
      </p:sp>
      <p:sp>
        <p:nvSpPr>
          <p:cNvPr id="5" name="Rectangle 4"/>
          <p:cNvSpPr/>
          <p:nvPr/>
        </p:nvSpPr>
        <p:spPr>
          <a:xfrm>
            <a:off x="731520" y="14630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828800"/>
            <a:ext cx="73152" cy="4572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83080"/>
            <a:ext cx="2907792" cy="548640"/>
          </a:xfrm>
          <a:prstGeom prst="rect">
            <a:avLst/>
          </a:prstGeom>
          <a:noFill/>
        </p:spPr>
        <p:txBody>
          <a:bodyPr wrap="none">
            <a:spAutoFit/>
          </a:bodyPr>
          <a:lstStyle/>
          <a:p>
            <a:pPr>
              <a:defRPr sz="1500" b="1">
                <a:solidFill>
                  <a:srgbClr val="0F172A"/>
                </a:solidFill>
              </a:defRPr>
            </a:pPr>
            <a:r>
              <a:t>Sorgu Yürütme Sırası</a:t>
            </a:r>
          </a:p>
        </p:txBody>
      </p:sp>
      <p:sp>
        <p:nvSpPr>
          <p:cNvPr id="9" name="TextBox 8"/>
          <p:cNvSpPr txBox="1"/>
          <p:nvPr/>
        </p:nvSpPr>
        <p:spPr>
          <a:xfrm>
            <a:off x="914400" y="2423160"/>
            <a:ext cx="2999232" cy="2377440"/>
          </a:xfrm>
          <a:prstGeom prst="rect">
            <a:avLst/>
          </a:prstGeom>
          <a:noFill/>
        </p:spPr>
        <p:txBody>
          <a:bodyPr wrap="square">
            <a:spAutoFit/>
          </a:bodyPr>
          <a:lstStyle/>
          <a:p>
            <a:pPr>
              <a:spcAft>
                <a:spcPts val="500"/>
              </a:spcAft>
              <a:defRPr sz="1100">
                <a:solidFill>
                  <a:srgbClr val="64748B"/>
                </a:solidFill>
              </a:defRPr>
            </a:pPr>
            <a:r>
              <a:t>• SQL sorgusunun yazılış sırası ile DB motorunun yürütme sırası farklıdır.</a:t>
            </a:r>
          </a:p>
          <a:p>
            <a:pPr>
              <a:spcAft>
                <a:spcPts val="500"/>
              </a:spcAft>
              <a:defRPr sz="1100">
                <a:solidFill>
                  <a:srgbClr val="64748B"/>
                </a:solidFill>
              </a:defRPr>
            </a:pPr>
            <a:r>
              <a:t>• Önce FROM ve WHERE çalışır, ardından SELECT ve ORDER BY gelir.</a:t>
            </a:r>
          </a:p>
          <a:p>
            <a:pPr>
              <a:spcAft>
                <a:spcPts val="500"/>
              </a:spcAft>
              <a:defRPr sz="1100">
                <a:solidFill>
                  <a:srgbClr val="64748B"/>
                </a:solidFill>
              </a:defRPr>
            </a:pPr>
            <a:r>
              <a:t>• WHERE bloğunda SELECT takma adının (alias) neden çalışmadığı anlaşıldı.</a:t>
            </a:r>
          </a:p>
        </p:txBody>
      </p:sp>
      <p:sp>
        <p:nvSpPr>
          <p:cNvPr id="10" name="Rounded Rectangle 9"/>
          <p:cNvSpPr/>
          <p:nvPr/>
        </p:nvSpPr>
        <p:spPr>
          <a:xfrm>
            <a:off x="4407408"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0288" y="1828800"/>
            <a:ext cx="73152"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1783080"/>
            <a:ext cx="2907792" cy="548640"/>
          </a:xfrm>
          <a:prstGeom prst="rect">
            <a:avLst/>
          </a:prstGeom>
          <a:noFill/>
        </p:spPr>
        <p:txBody>
          <a:bodyPr wrap="none">
            <a:spAutoFit/>
          </a:bodyPr>
          <a:lstStyle/>
          <a:p>
            <a:pPr>
              <a:defRPr sz="1500" b="1">
                <a:solidFill>
                  <a:srgbClr val="0F172A"/>
                </a:solidFill>
              </a:defRPr>
            </a:pPr>
            <a:r>
              <a:t>Soft Delete Standardı</a:t>
            </a:r>
          </a:p>
        </p:txBody>
      </p:sp>
      <p:sp>
        <p:nvSpPr>
          <p:cNvPr id="13" name="TextBox 12"/>
          <p:cNvSpPr txBox="1"/>
          <p:nvPr/>
        </p:nvSpPr>
        <p:spPr>
          <a:xfrm>
            <a:off x="4590288" y="2423160"/>
            <a:ext cx="2999232" cy="2377440"/>
          </a:xfrm>
          <a:prstGeom prst="rect">
            <a:avLst/>
          </a:prstGeom>
          <a:noFill/>
        </p:spPr>
        <p:txBody>
          <a:bodyPr wrap="square">
            <a:spAutoFit/>
          </a:bodyPr>
          <a:lstStyle/>
          <a:p>
            <a:pPr>
              <a:spcAft>
                <a:spcPts val="500"/>
              </a:spcAft>
              <a:defRPr sz="1100">
                <a:solidFill>
                  <a:srgbClr val="64748B"/>
                </a:solidFill>
              </a:defRPr>
            </a:pPr>
            <a:r>
              <a:t>• Fiziksel silme (DELETE) yerine durum kolonuyla gizleme benimsendi.</a:t>
            </a:r>
          </a:p>
          <a:p>
            <a:pPr>
              <a:spcAft>
                <a:spcPts val="500"/>
              </a:spcAft>
              <a:defRPr sz="1100">
                <a:solidFill>
                  <a:srgbClr val="64748B"/>
                </a:solidFill>
              </a:defRPr>
            </a:pPr>
            <a:r>
              <a:t>• Yalnızca hata geri alma değil, tarihsel denetim izi için zorunluluktur.</a:t>
            </a:r>
          </a:p>
          <a:p>
            <a:pPr>
              <a:spcAft>
                <a:spcPts val="500"/>
              </a:spcAft>
              <a:defRPr sz="1100">
                <a:solidFill>
                  <a:srgbClr val="64748B"/>
                </a:solidFill>
              </a:defRPr>
            </a:pPr>
            <a:r>
              <a:t>• Gerçek dünya sistemlerinde verinin silinmeyip arşivlendiği kavrandı.</a:t>
            </a:r>
          </a:p>
        </p:txBody>
      </p:sp>
      <p:sp>
        <p:nvSpPr>
          <p:cNvPr id="14" name="Rounded Rectangle 13"/>
          <p:cNvSpPr/>
          <p:nvPr/>
        </p:nvSpPr>
        <p:spPr>
          <a:xfrm>
            <a:off x="8083296" y="1645920"/>
            <a:ext cx="3364992" cy="3291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66176" y="1828800"/>
            <a:ext cx="7315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03336" y="1783080"/>
            <a:ext cx="2907792" cy="548640"/>
          </a:xfrm>
          <a:prstGeom prst="rect">
            <a:avLst/>
          </a:prstGeom>
          <a:noFill/>
        </p:spPr>
        <p:txBody>
          <a:bodyPr wrap="none">
            <a:spAutoFit/>
          </a:bodyPr>
          <a:lstStyle/>
          <a:p>
            <a:pPr>
              <a:defRPr sz="1500" b="1">
                <a:solidFill>
                  <a:srgbClr val="0F172A"/>
                </a:solidFill>
              </a:defRPr>
            </a:pPr>
            <a:r>
              <a:t>İndeksleme Ödünleşimi</a:t>
            </a:r>
          </a:p>
        </p:txBody>
      </p:sp>
      <p:sp>
        <p:nvSpPr>
          <p:cNvPr id="17" name="TextBox 16"/>
          <p:cNvSpPr txBox="1"/>
          <p:nvPr/>
        </p:nvSpPr>
        <p:spPr>
          <a:xfrm>
            <a:off x="8266176" y="2423160"/>
            <a:ext cx="2999232" cy="2377440"/>
          </a:xfrm>
          <a:prstGeom prst="rect">
            <a:avLst/>
          </a:prstGeom>
          <a:noFill/>
        </p:spPr>
        <p:txBody>
          <a:bodyPr wrap="square">
            <a:spAutoFit/>
          </a:bodyPr>
          <a:lstStyle/>
          <a:p>
            <a:pPr>
              <a:spcAft>
                <a:spcPts val="500"/>
              </a:spcAft>
              <a:defRPr sz="1100">
                <a:solidFill>
                  <a:srgbClr val="64748B"/>
                </a:solidFill>
              </a:defRPr>
            </a:pPr>
            <a:r>
              <a:t>• İndeks eklemek okuma hızını artırırken, her yazma işlemine ek disk I/O yükü getirir.</a:t>
            </a:r>
          </a:p>
          <a:p>
            <a:pPr>
              <a:spcAft>
                <a:spcPts val="500"/>
              </a:spcAft>
              <a:defRPr sz="1100">
                <a:solidFill>
                  <a:srgbClr val="64748B"/>
                </a:solidFill>
              </a:defRPr>
            </a:pPr>
            <a:r>
              <a:t>• Gereksiz her indeks yazma performansını düşürür.</a:t>
            </a:r>
          </a:p>
          <a:p>
            <a:pPr>
              <a:spcAft>
                <a:spcPts val="500"/>
              </a:spcAft>
              <a:defRPr sz="1100">
                <a:solidFill>
                  <a:srgbClr val="64748B"/>
                </a:solidFill>
              </a:defRPr>
            </a:pPr>
            <a:r>
              <a:t>• Bilinçli kolon seçimi için EXPLAIN ANALYZE kullanımı öğrenildi.</a:t>
            </a:r>
          </a:p>
        </p:txBody>
      </p:sp>
      <p:sp>
        <p:nvSpPr>
          <p:cNvPr id="18" name="Rounded Rectangle 17"/>
          <p:cNvSpPr/>
          <p:nvPr/>
        </p:nvSpPr>
        <p:spPr>
          <a:xfrm>
            <a:off x="731520" y="5212080"/>
            <a:ext cx="10728655" cy="11887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349240"/>
            <a:ext cx="10180015" cy="914400"/>
          </a:xfrm>
          <a:prstGeom prst="rect">
            <a:avLst/>
          </a:prstGeom>
          <a:noFill/>
        </p:spPr>
        <p:txBody>
          <a:bodyPr wrap="square">
            <a:spAutoFit/>
          </a:bodyPr>
          <a:lstStyle/>
          <a:p>
            <a:pPr>
              <a:defRPr sz="1300" i="1">
                <a:solidFill>
                  <a:srgbClr val="E0F2FE"/>
                </a:solidFill>
              </a:defRPr>
            </a:pPr>
            <a:r>
              <a:t>"Bir mühendis için en tehlikeli varsayım, verinin temiz geleceğini düşünmektir. Ham koordinatları PostGIS geom nesnesine çevirmek ve QGIS ile ilçe sınırlarını doğrulamak, sağlam bir CBS altyapısının temelini attı."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